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Enquanto a plateia senta: deixe o terminal já aberto com o doctor rodado e verde. Abra dizendo o que a sessão NÃO é: não é sobre um agente escrever código — todo mundo já viu isso. É sobre colocar VÁRIOS agentes para trabalhar ao mesmo tempo sem que eles briguem, e sobre quem decide se o que eles fizeram presta.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Trinta segundos, no máximo um minuto. Diga uma coisa que te dá credibilidade para falar disso — não o currículo inteiro. Emende direto na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leia a agenda item por item — aponte e resuma em vinte segundos. Destaque só isto: metade do tempo é demo ao vivo, e a parte dos achados é o que você não encontra em nenhum blog post. Prometa isso; depois entregue.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desarma a expectativa. Boa parte da plateia já usa Copilot ou Claude Code. Se você prometer 'agente que escreve código', perde a sala. Diga em voz alta: o gargalo não é mais escrever código — é decidir o que escrever, coordenar quem escreve o quê, e verificar. Essas três coisas são engenharia, não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Vá devagar aqui — é a fundação da palestra. Peça um levantar de mãos: quem já teve dois PRs conflitando por descuido de coordenação humana? Agora imagine isso automatizado, cinco vezes, sem ninguém olhando. Fecha com a frase do painel: a solução é restrição, não inteligência.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os nove blocos em ~90 segundos, apontando. Não detalhe ainda — cada demo vai abrir um deles. O que precisa ficar: os dois portões amarelos. Diga: 'a fábrica é autônoma no meio, e amarrada nas pontas — é exatamente aí que ela se torna utilizável numa empresa de verdade'.</a:t>
            </a:r>
          </a:p>
          <a:p/>
          <a:p>
            <a:r>
              <a:t>Os dois últimos blocos são níveis diferentes de pull request, e a distinção vai voltar no achado 8: os PRs por item apontam para o branch de integração e servem para LER uma mudança de cada vez; o PR de entrega vai do branch de integração para main e é a única coisa que propõe mexer no que o time entrega. Se alguém perguntar por que dois, a resposta curta é: 'revisar em pedaços, decidir de uma vez'.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 rápido — 60 segundos. A plateia quer ver funcionando, não ouvir lista de tecnologia. Destaque só dois pontos: 'sem nenhuma chave de API' (Entra ID de ponta a ponta) e 'o Copilot vira um AIAgent como qualquer outro' — é isso que permite compor tudo no mesmo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deste slide é a separação de papéis. Seis agentes pensam, um escreve. Se um agente de análise 'quiser' editar um arquivo, ele devolve um finding estruturado — não edita. Isso é o que torna a coisa auditável: você sabe exatamente quem tocou no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mais importante da palestra depois do próximo. Frase para repetir: 'o modelo produz, o programa verifica'. Se sobrar só uma ideia na cabeça da plateia, que seja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Segunda frase para repetir. Explique o custo concreto: dois agentes, dois worktrees, o mesmo arquivo — dois PRs que conflitam, e você trocou paralelismo por resolução de conflito. O detalhe que impressiona: é um modelo que propõe o plano, mas é um PROGRAMA que decide se ele pode rodar. Se o validador reprova, o plano volta para o arquiteto com o código do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 EXATO — terminal na raiz do repositório da fábrica (E:\source\repos\TDCSP2026):</a:t>
            </a:r>
          </a:p>
          <a:p/>
          <a:p>
            <a:r>
              <a:t>dotnet run --project src/AgentSquad.Cli -- doctor --probe-models</a:t>
            </a:r>
          </a:p>
          <a:p/>
          <a:p>
            <a:r>
              <a:t>Leva ~40 s, quase tudo esperando o gpt-5.5 — que é o ponto: é chamada real a cada modelo, não checagem de configuração.</a:t>
            </a:r>
          </a:p>
          <a:p/>
          <a:p>
            <a:r>
              <a:t>ANTES DE SUBIR AO PALCO: rode uma vez "dotnet build AgentSquad.slnx -c Release" e depois acrescente "-c Release --no-build" a TODOS os comandos das demos. Sem isso você espera compilação na frente da plateia.</a:t>
            </a:r>
          </a:p>
          <a:p/>
          <a:p>
            <a:r>
              <a:t>Se quiser provar também o Copilot (24 s, isolado de propósito):</a:t>
            </a:r>
          </a:p>
          <a:p>
            <a:r>
              <a:t>dotnet run --project src/AgentSquad.Cli -- doctor --probe-copilot</a:t>
            </a:r>
          </a:p>
          <a:p/>
          <a:p>
            <a:r>
              <a:t>O que apontar: cada falha traz o comando que corrige, não "algo deu errado". Repare nos 37 s do gpt-5.5 — modelo de raciocínio tem custo de latência, e isso volta no achado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é onde a plateia corporativa acorda. A pergunta que todo tech lead faz é 'como eu faço ele seguir o NOSSO padrão?'. A resposta: não é fine-tuning, não é prompt secreto — é arquivo no repositório, que passa por code review como qualquer outro. Mostre o comando 'copilot skill list' ao vivo se sobrar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painel embaixo é a prova: o revisor automatizado não diz 'achei feio'. Ele cita SEC-004, arquivo, linha, e a correção concreta. Diga: um revisor que não sabe nomear a regra que está aplicando está expressando gosto — e gosto não pode bloquear um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 EXATO:</a:t>
            </a:r>
          </a:p>
          <a:p/>
          <a:p>
            <a:r>
              <a:t>dotnet run --project src/AgentSquad.Cli -- run `</a:t>
            </a:r>
          </a:p>
          <a:p>
            <a:r>
              <a:t>  --transcript samples/meeting-transcripts/kickoff-catalogo.md `</a:t>
            </a:r>
          </a:p>
          <a:p>
            <a:r>
              <a:t>  --repo squad-demo-catalogo --plan-only</a:t>
            </a:r>
          </a:p>
          <a:p/>
          <a:p>
            <a:r>
              <a:t>--plan-only para depois do plano e NÃO escreve nada no GitHub. Pode repetir quantas vezes quiser, inclusive se algo der errado no palco. É a demo mais segura da apresentação.</a:t>
            </a:r>
          </a:p>
          <a:p/>
          <a:p>
            <a:r>
              <a:t>Enquanto o agente lê a transcrição (~60 s), conte como o arquivo foi escrito: um requisito que ninguém quantificou, uma divergência que ficou sem resolução, um "obviamente" que não é óbvio, um escopo que cresceu no meio da conversa.</a:t>
            </a:r>
          </a:p>
          <a:p/>
          <a:p>
            <a:r>
              <a:t>O teste de fogo: o agente lista o p95 como PENDÊNCIA ou registra como requisito? O gabarito está no fim do próprio arquivo da transcrição.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as pessoas fotografam. A transcrição de exemplo foi escrita de propósito com as patologias de uma reunião real: um requisito que ninguém quantificou, uma divergência sem resolução, um 'obviamente' que não é óbvio, e uma decisão tomada por quem chegou atrasado. Se o agente acertar ao vivo, pare e deixe a plateia ler. Se errar, também pare — e explique que é exatamente por isso que existe aprovação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pergunta ruim é pior que nenhuma pergunta: consome atenção e não melhora a decisão. O critério que uso: a pergunta só existe se (a) muda o PLANO, (b) não dá para responder lendo o repositório, e (c) escolher errado é caro de desfazer. Falhou em qualquer um dos três? O agente decide e registra como suposição, para o humano contestar na aprovação.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Adiante um dos achados aqui — ele encaixa perfeitamente. Eu pedi ao crítico, no prompt, para aprovar quando o plano estivesse bom. Ele nunca aprovou. A lição não é 'melhore o prompt': é que você não pode dar poder de veto a algo que não sabe parar de opinar. Validador é portão, crítico é conselho.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 EXATO — esta é a execução de verdade: escreve issues, branches e pull requests no GitHub.</a:t>
            </a:r>
          </a:p>
          <a:p/>
          <a:p>
            <a:r>
              <a:t>dotnet run --project src/AgentSquad.Cli -- run `</a:t>
            </a:r>
          </a:p>
          <a:p>
            <a:r>
              <a:t>  --request "Preciso de uma API REST de catálogo de produtos em .NET: busca paginada por nome, filtro por categoria e faixa de preço, com testes de integração." `</a:t>
            </a:r>
          </a:p>
          <a:p>
            <a:r>
              <a:t>  --repo squad-demo-catalogo --parallel 3</a:t>
            </a:r>
          </a:p>
          <a:p/>
          <a:p>
            <a:r>
              <a:t>SEM --plan-only (você quer que escreva) e SEM --unattended (você quer mostrar a aprovação humana do plano).</a:t>
            </a:r>
          </a:p>
          <a:p/>
          <a:p>
            <a:r>
              <a:t>Com a interface web e o dashboard do Aspire, em outro terminal:</a:t>
            </a:r>
          </a:p>
          <a:p>
            <a:r>
              <a:t>dotnet run --project src/AgentSquad.AppHost</a:t>
            </a:r>
          </a:p>
          <a:p/>
          <a:p>
            <a:r>
              <a:t>Tempos: intake ~40 s · requisitos ~90 s · planejamento 4 a 6 min · agentes 3 a 20 min por onda. Você NÃO vai esperar em silêncio — o roteiro tem o que falar em cada espera.</a:t>
            </a:r>
          </a:p>
          <a:p/>
          <a:p>
            <a:r>
              <a:t>Se o gate reprovar, COMEMORE e pare para mostrar o diagnóstico voltando para o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PREPARE-SE para isso acontecer. Na minha execução de validação, o gate reprovou duas vezes antes de aprovar. Se acontecer, use o roteiro: 'repararam? o agente disse que terminou, o compilador discordou, e o diagnóstico volta para ele'. Isso vende a ideia melhor do que qualquer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obrigatório para plateia corporativa — é a primeira pergunta do time de segurança. O ponto central: não é que a gente PEÇA ao agente para não dar push. A política de permissões do Copilot SDK IMPEDE, e negação vence aprovação automática. Isso é diferente de instrução em prompt, e a diferença importa numa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COMANDO EXATO:</a:t>
            </a:r>
          </a:p>
          <a:p/>
          <a:p>
            <a:r>
              <a:t>gh pr list --repo magoolation/squad-demo-catalogo</a:t>
            </a:r>
          </a:p>
          <a:p/>
          <a:p>
            <a:r>
              <a:t>Para abrir um no navegador direto do terminal:</a:t>
            </a:r>
          </a:p>
          <a:p>
            <a:r>
              <a:t>gh pr view &lt;numero&gt; --repo magoolation/squad-demo-catalogo --web</a:t>
            </a:r>
          </a:p>
          <a:p/>
          <a:p>
            <a:r>
              <a:t>Ordem: abra primeiro um PR de ITEM (tabela do gate, apontamento citando TST-004 com arquivo:linha, bloco de procedência). Depois o PR de ENTREGA, o que vai de agent/run-... para main: o que entrou, o que NÃO entrou, e a última linha, "O merge é seu."</a:t>
            </a:r>
          </a:p>
          <a:p/>
          <a:p>
            <a:r>
              <a:t>Explique os dois níveis ANTES que alguém pergunte: os PRs por item apontam para o branch de integração e servem para ler uma mudança de cada vez; o de entrega é a única coisa que propõe mexer no main. Alguns PRs de item aparecem como MERGED — o GitHub faz isso sozinho quando os commits viram alcançáveis pela base. Emende no achado 8.</a:t>
            </a:r>
          </a:p>
          <a:p/>
          <a:p>
            <a:r>
              <a:t>Em uma frase: "revisar em pedaços, decidir de uma vez".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importante. Diga: 'a partir daqui eu paro de te vender a solução e começo a te contar o que deu errado'. Plateia técnica confia muito mais em quem mostra as cicatrizes. Estes oito achados custaram horas cada um. E o oitavo é consequência direta da correção do sétimo.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a tese da palestra em quatro linhas. Se alguém for embora depois disso, levou o essencial: construir uma fábrica de agentes é 20% prompt e 80% engenharia de integração e verificação.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prático — a plateia está esperando por ele. Enfatize o passo 2: se o CI de vocês hoje não reprova um PR humano mal formatado, automatizar agente é prematuro. O gate é pré-requisito, não consequência.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devagar. Cada item aqui é uma conversa que você vai ter com segurança, com compliance, ou com o seu diretor. Ter a resposta pronta é o que faz o projeto ser aprovado.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pule este slide por falta de tempo — corte outro. Ele é o que separa a sua palestra das outras vinte sobre IA no evento. Plateia técnica perdoa limitação declarada e desconfia de solução perfeita.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frases, trinta segundos. Diga devagar e faça pausa entre elas. Depois passe direto para o slide de perguntas — não encerre duas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este slide no telão durante todas as perguntas — o link fica visível. PERGUNTAS QUE VÃO VIR, e as respostas curtas:</a:t>
            </a:r>
          </a:p>
          <a:p/>
          <a:p>
            <a:r>
              <a:t>• 'Quanto custa?' — Medi tempo, não dinheiro; uma execução de 40 min usa 6 agentes. Seja honesto que não mediu.</a:t>
            </a:r>
          </a:p>
          <a:p>
            <a:r>
              <a:t>• 'Funciona em legado?' — Validei greenfield e mudanças pequenas. Em legado o intake lê o repositório primeiro, mas não testei em escala.</a:t>
            </a:r>
          </a:p>
          <a:p>
            <a:r>
              <a:t>• 'Substitui desenvolvedor?' — Não. Move o trabalho de escrever para especificar e revisar. E o merge continua humano.</a:t>
            </a:r>
          </a:p>
          <a:p>
            <a:r>
              <a:t>• 'Por que não CrewAI/AutoGen/LangGraph?' — A escolha aqui foi .NET + Agent Framework porque era o contexto; o desenho (gate determinístico, regra de conflito, worktree) é independente de framework.</a:t>
            </a:r>
          </a:p>
          <a:p>
            <a:r>
              <a:t>• 'E se o agente fizer besteira?' — A política de permissões impede push, PR e comandos de infraestrutura. E nada entra sem merge humano.</a:t>
            </a:r>
          </a:p>
          <a:p>
            <a:r>
              <a:t>• 'Posso usar no meu trabalho?' — MIT, está tudo no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TDC SÃO PAULO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241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Agent Squad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E6EDF3"/>
                </a:solidFill>
                <a:latin typeface="Segoe UI"/>
              </a:rPr>
              <a:t>Uma fábrica de software autônoma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198A1"/>
                </a:solidFill>
                <a:latin typeface="Segoe UI"/>
              </a:rPr>
              <a:t>Da transcrição de uma reunião ao pull request — com agentes em paralelo, e um humano decidindo o que importa.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029200"/>
            <a:ext cx="9966960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57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.NET 10</a:t>
            </a:r>
            <a:r>
              <a:rPr sz="1700" b="0">
                <a:solidFill>
                  <a:srgbClr val="6E7681"/>
                </a:solidFill>
                <a:latin typeface="Segoe UI"/>
              </a:rPr>
              <a:t>   ·   </a:t>
            </a:r>
            <a:r>
              <a:rPr sz="1700" b="1">
                <a:solidFill>
                  <a:srgbClr val="E6EDF3"/>
                </a:solidFill>
                <a:latin typeface="Segoe UI"/>
              </a:rPr>
              <a:t>Microsoft Agent Framework</a:t>
            </a:r>
            <a:r>
              <a:rPr sz="1700" b="0">
                <a:solidFill>
                  <a:srgbClr val="6E7681"/>
                </a:solidFill>
                <a:latin typeface="Segoe UI"/>
              </a:rPr>
              <a:t>   ·   </a:t>
            </a:r>
            <a:r>
              <a:rPr sz="1700" b="1">
                <a:solidFill>
                  <a:srgbClr val="E6EDF3"/>
                </a:solidFill>
                <a:latin typeface="Segoe UI"/>
              </a:rPr>
              <a:t>Microsoft Foundry</a:t>
            </a:r>
            <a:r>
              <a:rPr sz="1700" b="0">
                <a:solidFill>
                  <a:srgbClr val="6E7681"/>
                </a:solidFill>
                <a:latin typeface="Segoe UI"/>
              </a:rPr>
              <a:t>   ·   </a:t>
            </a:r>
            <a:r>
              <a:rPr sz="1700" b="1">
                <a:solidFill>
                  <a:srgbClr val="E6EDF3"/>
                </a:solidFill>
                <a:latin typeface="Segoe UI"/>
              </a:rPr>
              <a:t>GitHub Copilot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06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98A1"/>
                </a:solidFill>
                <a:latin typeface="Segoe UI"/>
              </a:rPr>
              <a:t>Alexandre Costa  ·  github.com/magoolation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Quem está falando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Alexandre Costa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8A6FF"/>
                </a:solidFill>
                <a:latin typeface="Segoe UI"/>
              </a:rPr>
              <a:t>Cloud Solution Architect · AI &amp; Apps · 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1927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E6EDF3"/>
                </a:solidFill>
                <a:latin typeface="Segoe UI"/>
              </a:rPr>
              <a:t>Pessoa desenvolvedora com deficiência visual apaixonado por tecnologia e ativista da diversidade e inclusão. Palestrante internacional, Microsoft MVP Reconnect e TDC rockStar. Cloud Solution Architect na Microsoft contribui com a missão de empoderar cada pessoa e organização a conquistar mais.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28032"/>
            <a:ext cx="2651760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github.com/magoolation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4828032"/>
            <a:ext cx="3200400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C8CFF"/>
                </a:solidFill>
                <a:latin typeface="Segoe UI"/>
              </a:rPr>
              <a:t>linkedin.com/in/magoolation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828032"/>
            <a:ext cx="1737360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919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198A1"/>
                </a:solidFill>
                <a:latin typeface="Segoe UI"/>
              </a:rPr>
              <a:t>@magoolation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9198A1"/>
                </a:solidFill>
                <a:latin typeface="Segoe UI"/>
              </a:rPr>
              <a:t>Tudo que você vai ver hoje é código aberto: </a:t>
            </a:r>
            <a:r>
              <a:rPr sz="1700" b="1">
                <a:solidFill>
                  <a:srgbClr val="58A6FF"/>
                </a:solidFill>
                <a:latin typeface="Consolas"/>
              </a:rPr>
              <a:t>github.com/magoolation/tdc-sp-2026-agent-squad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2/36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Uma hora, quatro demos ao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5623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74520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O problema</a:t>
            </a:r>
            <a:r>
              <a:rPr sz="1800" b="0">
                <a:solidFill>
                  <a:srgbClr val="9198A1"/>
                </a:solidFill>
                <a:latin typeface="Segoe UI"/>
              </a:rPr>
              <a:t>    Por que paralelizar agentes é diferente de usar um 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190195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8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3288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A fábrica</a:t>
            </a:r>
            <a:r>
              <a:rPr sz="1800" b="0">
                <a:solidFill>
                  <a:srgbClr val="9198A1"/>
                </a:solidFill>
                <a:latin typeface="Segoe UI"/>
              </a:rPr>
              <a:t>    Pipeline, arquitetura, e as duas decisões que sustentam 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25603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10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72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91256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Personalização</a:t>
            </a:r>
            <a:r>
              <a:rPr sz="1800" b="0">
                <a:solidFill>
                  <a:srgbClr val="9198A1"/>
                </a:solidFill>
                <a:latin typeface="Segoe UI"/>
              </a:rPr>
              <a:t>    As regras da sua empresa como arquivo versionado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321868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6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31336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49624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Demos</a:t>
            </a:r>
            <a:r>
              <a:rPr sz="1800" b="0">
                <a:solidFill>
                  <a:srgbClr val="9198A1"/>
                </a:solidFill>
                <a:latin typeface="Segoe UI"/>
              </a:rPr>
              <a:t>    Pré-requisitos · reunião → requisitos · agentes em paralelo · PRs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38770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16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9704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07992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Os achados</a:t>
            </a:r>
            <a:r>
              <a:rPr sz="1800" b="0">
                <a:solidFill>
                  <a:srgbClr val="9198A1"/>
                </a:solidFill>
                <a:latin typeface="Segoe UI"/>
              </a:rPr>
              <a:t>    O que quebrou de verdade, e o que cada quebra ensinou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8615" y="453542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10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4807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166360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Na sua empresa</a:t>
            </a:r>
            <a:r>
              <a:rPr sz="1800" b="0">
                <a:solidFill>
                  <a:srgbClr val="9198A1"/>
                </a:solidFill>
                <a:latin typeface="Segoe UI"/>
              </a:rPr>
              <a:t>    Por onde começar, e o que não negociar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51937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6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824728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Perguntas</a:t>
            </a:r>
            <a:r>
              <a:rPr sz="1800" b="0">
                <a:solidFill>
                  <a:srgbClr val="9198A1"/>
                </a:solidFill>
                <a:latin typeface="Segoe UI"/>
              </a:rPr>
              <a:t>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5852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10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3/36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A promessa é velha. O problema, não.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5090007" cy="320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D29922"/>
                </a:solidFill>
                <a:latin typeface="Segoe UI"/>
              </a:rPr>
              <a:t>O que já sabemos fazer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E6EDF3"/>
                </a:solidFill>
                <a:latin typeface="Segoe UI"/>
              </a:rPr>
              <a:t>Um agente escreve código.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9198A1"/>
                </a:solidFill>
                <a:latin typeface="Segoe UI"/>
              </a:rPr>
              <a:t>Você pede, ele implementa, você revisa. Funciona, é útil, e já é rotina para muita gente nesta sala.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O gargalo deixou de ser escrever código.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10512"/>
            <a:ext cx="5090007" cy="3200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58A6FF"/>
                </a:solidFill>
                <a:latin typeface="Segoe UI"/>
              </a:rPr>
              <a:t>O que ainda não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Cinco agentes ao mesmo tempo.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9198A1"/>
                </a:solidFill>
                <a:latin typeface="Segoe UI"/>
              </a:rPr>
              <a:t>Quem decide o que cada um faz? Como eles não se atropelam? Quem diz se o resultado presta — e quem é responsável quando não presta?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É aí que a coisa deixa de ser sobre modelo.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3095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2300" b="0">
                <a:solidFill>
                  <a:srgbClr val="9198A1"/>
                </a:solidFill>
                <a:latin typeface="Segoe UI"/>
              </a:rPr>
              <a:t>O problema não é a inteligência do agente. É a </a:t>
            </a:r>
            <a:r>
              <a:rPr sz="2300" b="1">
                <a:solidFill>
                  <a:srgbClr val="FFFFFF"/>
                </a:solidFill>
                <a:latin typeface="Segoe UI"/>
              </a:rPr>
              <a:t>engenharia em volta dele</a:t>
            </a:r>
            <a:r>
              <a:rPr sz="2300" b="0">
                <a:solidFill>
                  <a:srgbClr val="9198A1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4/36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Por que dois agentes são muito mais que o dobro de um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37215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Conflito. </a:t>
            </a:r>
            <a:r>
              <a:rPr sz="1900" b="0">
                <a:solidFill>
                  <a:srgbClr val="9198A1"/>
                </a:solidFill>
                <a:latin typeface="Segoe UI"/>
              </a:rPr>
              <a:t>Dois agentes editando OrderService.cs ao mesmo tempo produzem dois PRs que conflitam. O paralelismo que você comprou vira retrabalho.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Dependência. </a:t>
            </a:r>
            <a:r>
              <a:rPr sz="1900" b="0">
                <a:solidFill>
                  <a:srgbClr val="9198A1"/>
                </a:solidFill>
                <a:latin typeface="Segoe UI"/>
              </a:rPr>
              <a:t>O agente da API precisa do modelo de domínio que o outro ainda está escrevendo. Ordem importa, e ninguém a declarou.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Verificação. </a:t>
            </a:r>
            <a:r>
              <a:rPr sz="1900" b="0">
                <a:solidFill>
                  <a:srgbClr val="9198A1"/>
                </a:solidFill>
                <a:latin typeface="Segoe UI"/>
              </a:rPr>
              <a:t>O agente diz que terminou. E daí? Quem verifica, e com que autoridade?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Escopo. </a:t>
            </a:r>
            <a:r>
              <a:rPr sz="1900" b="0">
                <a:solidFill>
                  <a:srgbClr val="9198A1"/>
                </a:solidFill>
                <a:latin typeface="Segoe UI"/>
              </a:rPr>
              <a:t>Um agente que 'aproveita e arruma' um arquivo vizinho quebra o PR de outro.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Responsabilidade. </a:t>
            </a:r>
            <a:r>
              <a:rPr sz="1900" b="0">
                <a:solidFill>
                  <a:srgbClr val="9198A1"/>
                </a:solidFill>
                <a:latin typeface="Segoe UI"/>
              </a:rPr>
              <a:t>Cinco PRs abertos por robôs. Quem responde pelo que entrou em produção?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1663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Nenhum desses problemas se resolve com um modelo melhor. </a:t>
            </a:r>
            <a:r>
              <a:rPr sz="2000" b="1">
                <a:solidFill>
                  <a:srgbClr val="58A6FF"/>
                </a:solidFill>
                <a:latin typeface="Segoe UI"/>
              </a:rPr>
              <a:t>Todos se resolvem com restrição.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5/36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 FÁBRICA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pipeline inteiro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INTAKE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solução nova ou
feature existente?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54504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73376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REQUISITOS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verificáveis +
as ambiguidades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50641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69513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PLANO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work items,
dependências, ondas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46778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5650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D29922"/>
                </a:solidFill>
                <a:latin typeface="Segoe UI"/>
              </a:rPr>
              <a:t>APROVAÇÃO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decisão
humana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2915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1787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ISSUES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uma por
work item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39051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57923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BC8CFF"/>
                </a:solidFill>
                <a:latin typeface="Segoe UI"/>
              </a:rPr>
              <a:t>AGENTES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em paralelo,
um worktree cada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35188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4060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GATE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format, build,
testes, segredos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31325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50197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PR POR ITEM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unidade de
revisão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227462" y="2962656"/>
            <a:ext cx="109728" cy="182880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46334" y="2267712"/>
            <a:ext cx="1068120" cy="1600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46304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D29922"/>
                </a:solidFill>
                <a:latin typeface="Segoe UI"/>
              </a:rPr>
              <a:t>PR DE ENTREGA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198A1"/>
                </a:solidFill>
                <a:latin typeface="Segoe UI"/>
              </a:rPr>
              <a:t>merge é
humano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79392"/>
            <a:ext cx="10637215" cy="96012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D29922"/>
                </a:solidFill>
                <a:latin typeface="Segoe UI"/>
              </a:rPr>
              <a:t>Dois portões humanos: </a:t>
            </a:r>
            <a:r>
              <a:rPr sz="1900" b="0">
                <a:solidFill>
                  <a:srgbClr val="E6EDF3"/>
                </a:solidFill>
                <a:latin typeface="Segoe UI"/>
              </a:rPr>
              <a:t>nada é escrito no GitHub antes da aprovação do plano, e </a:t>
            </a:r>
            <a:r>
              <a:rPr sz="1900" b="1">
                <a:solidFill>
                  <a:srgbClr val="E6EDF3"/>
                </a:solidFill>
                <a:latin typeface="Segoe UI"/>
              </a:rPr>
              <a:t>nenhum merge acontece sem uma pessoa.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198A1"/>
                </a:solidFill>
                <a:latin typeface="Segoe UI"/>
              </a:rPr>
              <a:t>Entre eles, a fábrica é autônoma — e cada ação irreversível passa por uma verificação determinística.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6/36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 FÁBRICA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que está por baixo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Orquestração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773936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Microsoft Agent Framework 1.22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AIAgent, AgentSession, saída estruturada com schema, middleware, OpenTelemetry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Modelos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578608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Microsoft Foundry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Entra ID, sem nenhuma chave de API. disableLocalAuth no recurso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198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Quem escreve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383280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BC8CFF"/>
                </a:solidFill>
                <a:latin typeface="Segoe UI"/>
              </a:rPr>
              <a:t>GitHub Copilot SDK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CopilotClient dirigido in-process, exposto como um AIAgent qualquer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24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Isolamento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187952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3FB950"/>
                </a:solidFill>
                <a:latin typeface="Segoe UI"/>
              </a:rPr>
              <a:t>git worktree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Um por issue, com COPILOT_HOME próprio e artefatos fora da árvore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Tarefas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992624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GitHub Issues + PRs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gh CLI — todo comando é copiável pela plateia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338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7681"/>
                </a:solidFill>
                <a:latin typeface="Segoe UI"/>
              </a:rPr>
              <a:t>Apresentação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797296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9198A1"/>
                </a:solidFill>
                <a:latin typeface="Segoe UI"/>
              </a:rPr>
              <a:t>Console + Blazor + Aspire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Mesmo fluxo de eventos nos dois; o dashboard do Aspire mostra os spans GenAI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7/36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 FÁBRICA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Sete papéis, e só um escreve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Transcript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783080"/>
            <a:ext cx="763524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gpt-5.5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Decisões, requisitos e — o que importa — as pendências não resolvidas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Intake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350008"/>
            <a:ext cx="1152144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gpt-5.4-mini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957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Greenfield ou brownfield? Lê o repositório antes de opinar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443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Requirements Analyst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916936"/>
            <a:ext cx="763524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gpt-5.5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626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Requisitos verificáveis + no máximo 5 perguntas ao humano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1129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Architect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483864"/>
            <a:ext cx="763524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gpt-5.5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2958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Work items, dependências, ondas de paralelismo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782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Plan Critic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4050792"/>
            <a:ext cx="763524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gpt-5.5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96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Revisa o plano antes de qualquer issue existir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451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Code 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4617720"/>
            <a:ext cx="1229868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gpt-5.3-codex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Lê o diff citando o identificador da regra violada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7215" cy="86868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1">
                <a:solidFill>
                  <a:srgbClr val="BC8CFF"/>
                </a:solidFill>
                <a:latin typeface="Segoe UI"/>
              </a:rPr>
              <a:t>Implementer</a:t>
            </a:r>
            <a:r>
              <a:rPr sz="1800" b="0">
                <a:solidFill>
                  <a:srgbClr val="6E7681"/>
                </a:solidFill>
                <a:latin typeface="Segoe UI"/>
              </a:rPr>
              <a:t>        </a:t>
            </a:r>
            <a:r>
              <a:rPr sz="1800" b="1">
                <a:solidFill>
                  <a:srgbClr val="BC8CFF"/>
                </a:solidFill>
                <a:latin typeface="Consolas"/>
              </a:rPr>
              <a:t>GitHub Copilot</a:t>
            </a:r>
            <a:r>
              <a:rPr sz="1800" b="0">
                <a:solidFill>
                  <a:srgbClr val="6E7681"/>
                </a:solidFill>
                <a:latin typeface="Segoe UI"/>
              </a:rPr>
              <a:t>        </a:t>
            </a:r>
            <a:r>
              <a:rPr sz="1800" b="0">
                <a:solidFill>
                  <a:srgbClr val="E6EDF3"/>
                </a:solidFill>
                <a:latin typeface="Segoe UI"/>
              </a:rPr>
              <a:t>Escreve o código, em worktree isolado. É o único que pode.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8/36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AS DUAS DECISÕES QUE SUSTENTAM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Decisão 1 — quem tem autoridade para dizer 'está pronto'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5090007" cy="2103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237744" rIns="22860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F85149"/>
                </a:solidFill>
                <a:latin typeface="Segoe UI"/>
              </a:rPr>
              <a:t>O que não pode decidir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E6EDF3"/>
                </a:solidFill>
                <a:latin typeface="Segoe UI"/>
              </a:rPr>
              <a:t>"Implementei e testei, está tudo funcionando."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É a opinião do agente sobre o próprio trabalho. Não é evidência.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10512"/>
            <a:ext cx="5090007" cy="21031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237744" rIns="22860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O que decide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6EDF3"/>
                </a:solidFill>
                <a:latin typeface="Consolas"/>
              </a:rPr>
              <a:t>dotnet build -warnaserror  →  exit 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E6EDF3"/>
                </a:solidFill>
                <a:latin typeface="Consolas"/>
              </a:rPr>
              <a:t>dotnet test                →  exit 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Um programa, com a mesma resposta toda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3367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9198A1"/>
                </a:solidFill>
                <a:latin typeface="Segoe UI"/>
              </a:rPr>
              <a:t>O gate roda sete etapas, e todas têm que passar: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90872"/>
            <a:ext cx="763524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restore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87068" y="46908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172" y="4690872"/>
            <a:ext cx="1618488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build -warnaserror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3964" y="46908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testes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6068" y="4690872"/>
            <a:ext cx="1463040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vulnerabilidades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5412" y="46908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escopo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7516" y="4690872"/>
            <a:ext cx="841248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segredos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257800"/>
            <a:ext cx="10637215" cy="86868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Nenhum pull request é aberto sem isso. </a:t>
            </a:r>
            <a:r>
              <a:rPr sz="1800" b="0">
                <a:solidFill>
                  <a:srgbClr val="9198A1"/>
                </a:solidFill>
                <a:latin typeface="Segoe UI"/>
              </a:rPr>
              <a:t>Num sistema autônomo, a única coisa em que você pode confiar é no que um programa verificou.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9/36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AS DUAS DECISÕES QUE SUSTENTAM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Decisão 2 — a regra que faz o paralelismo funcionar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96012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Dois work items da mesma onda nunca declaram o mesmo arquivo.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449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198A1"/>
                </a:solidFill>
                <a:latin typeface="Segoe UI"/>
              </a:rPr>
              <a:t>Quando dois itens querem o mesmo arquivo, existem exatamente três saídas honestas: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93592"/>
            <a:ext cx="3362858" cy="1417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Sequenciar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mover um para uma onda posterior, com dependência declarada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3593592"/>
            <a:ext cx="3362858" cy="1417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Extrair uma costura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um item anterior cria a interface que permite trabalhar em paralelo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1596" y="3593592"/>
            <a:ext cx="3362858" cy="1417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E6EDF3"/>
                </a:solidFill>
                <a:latin typeface="Segoe UI"/>
              </a:rPr>
              <a:t>Fundir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se são pequenos e inseparáveis, são um item só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2064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900" b="0">
                <a:solidFill>
                  <a:srgbClr val="9198A1"/>
                </a:solidFill>
                <a:latin typeface="Segoe UI"/>
              </a:rPr>
              <a:t>E aqui está o pulo do gato: </a:t>
            </a:r>
            <a:r>
              <a:rPr sz="1900" b="1">
                <a:solidFill>
                  <a:srgbClr val="FFFFFF"/>
                </a:solidFill>
                <a:latin typeface="Segoe UI"/>
              </a:rPr>
              <a:t>essa regra é verificada por código, não confiada ao modelo.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Consolas"/>
              </a:rPr>
              <a:t>PlanValidator</a:t>
            </a:r>
            <a:r>
              <a:rPr sz="1500" b="0">
                <a:solidFill>
                  <a:srgbClr val="9198A1"/>
                </a:solidFill>
                <a:latin typeface="Segoe UI"/>
              </a:rPr>
              <a:t>  — 11 verificações determinísticas no plano que o modelo produziu, antes de qualquer issue existir.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10/36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85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DEMO 1</a:t>
            </a:r>
            <a:r>
              <a:rPr sz="1600" b="0">
                <a:solidFill>
                  <a:srgbClr val="6E7681"/>
                </a:solidFill>
                <a:latin typeface="Segoe UI"/>
              </a:rPr>
              <a:t>     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Pré-requisitos, com diagnóstico útil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198A1"/>
                </a:solidFill>
                <a:latin typeface="Segoe UI"/>
              </a:rPr>
              <a:t>Nada de 'algo deu errado'. Cada item reprovado vem com o comando que corrige.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743200"/>
            <a:ext cx="10058400" cy="256032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&gt; squad doctor --probe-models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9198A1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3FB950"/>
                </a:solidFill>
                <a:latin typeface="Consolas"/>
              </a:rPr>
              <a:t>  ✔  .NET SDK                   10.0.401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3FB950"/>
                </a:solidFill>
                <a:latin typeface="Consolas"/>
              </a:rPr>
              <a:t>  ✔  GitHub CLI                 2.101.0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85149"/>
                </a:solidFill>
                <a:latin typeface="Consolas"/>
              </a:rPr>
              <a:t>  ✖  GitHub token scopes        'repo'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D29922"/>
                </a:solidFill>
                <a:latin typeface="Consolas"/>
              </a:rPr>
              <a:t>     → gh auth refresh -h github.com -s workflow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3FB950"/>
                </a:solidFill>
                <a:latin typeface="Consolas"/>
              </a:rPr>
              <a:t>  ✔  Microsoft Foundry          gpt-5.5 · 36946 ms · "Olá, TDC!"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BC8CFF"/>
                </a:solidFill>
                <a:latin typeface="Segoe UI"/>
              </a:rPr>
              <a:t>O que apontar: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O doctor faz uma chamada REAL a cada modelo — não só testa configuração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Cada falha traz o comando exato, não uma mensagem genérica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PERSONALIZAÇÃO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As regras da empresa não vivem num prompt escondido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8A6FF"/>
                </a:solidFill>
                <a:latin typeface="Consolas"/>
              </a:rPr>
              <a:t>AGENTS.md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8288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contrato de trabalho — lido pelo Copilot CLI e injetado no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8A6FF"/>
                </a:solidFill>
                <a:latin typeface="Consolas"/>
              </a:rPr>
              <a:t>docs/engineering-rules.md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3774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as regras, com identificador estável: ENG-042, SEC-004, TST-004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198A1"/>
                </a:solidFill>
                <a:latin typeface="Consolas"/>
              </a:rPr>
              <a:t>.github/copilot-instructions.md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9260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instruções do repositório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198A1"/>
                </a:solidFill>
                <a:latin typeface="Consolas"/>
              </a:rPr>
              <a:t>.github/instructions/*.md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34747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instruções por caminho de arquivo, aplicadas automaticamente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C8CFF"/>
                </a:solidFill>
                <a:latin typeface="Consolas"/>
              </a:rPr>
              <a:t>.github/agents/*.md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40233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agentes customizados: implementer, planner, reviewer, test-author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537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C8CFF"/>
                </a:solidFill>
                <a:latin typeface="Consolas"/>
              </a:rPr>
              <a:t>.github/skills/&lt;nome&gt;/SKILL.md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5720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habilidades reutilizáveis, carregadas sob demanda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85232"/>
            <a:ext cx="10637215" cy="118872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Tudo isso é arquivo versionado, revisável em pull request.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9198A1"/>
                </a:solidFill>
                <a:latin typeface="Segoe UI"/>
              </a:rPr>
              <a:t>Para adaptar à sua empresa você edita dois arquivos. </a:t>
            </a:r>
            <a:r>
              <a:rPr sz="1600" b="1">
                <a:solidFill>
                  <a:srgbClr val="E6EDF3"/>
                </a:solidFill>
                <a:latin typeface="Segoe UI"/>
              </a:rPr>
              <a:t>Nenhuma linha de C#.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12/36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PERSONALIZAÇÃO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Uma regra que ninguém aplica é um comentário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.editorconfig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54879" y="1892808"/>
            <a:ext cx="274320" cy="109728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10512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dotnet format --verify-no-changes reprova o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Directory.Build.props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79" y="2313432"/>
            <a:ext cx="274320" cy="109728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231136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TreatWarningsAsErrors + analisadores como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.editorconfig (CA5xxx)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79" y="2734056"/>
            <a:ext cx="274320" cy="109728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65176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toda regra de segurança do .NET escalada para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7238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Directory.Packages.props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54879" y="3154680"/>
            <a:ext cx="274320" cy="109728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072384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Central Package Management: nenhuma versão solta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engineering-rules.md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754879" y="3575304"/>
            <a:ext cx="274320" cy="109728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493008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citada por identificador em cada apontamento bloqueante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13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AGENTS.md §3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54879" y="3995928"/>
            <a:ext cx="274320" cy="109728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913632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regras invioláveis — o agente é instruído a recusar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34256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CopilotOptions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754879" y="4416552"/>
            <a:ext cx="274320" cy="109728"/>
          </a:xfrm>
          <a:prstGeom prst="right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334256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a política de permissões impede tecnicamente, não pede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919472"/>
            <a:ext cx="10637215" cy="141732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85149"/>
                </a:solidFill>
                <a:latin typeface="Consolas"/>
              </a:rPr>
              <a:t>"rule": "SEC-004",   "severity": "blocking",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6EDF3"/>
                </a:solidFill>
                <a:latin typeface="Consolas"/>
              </a:rPr>
              <a:t>"file": "src/Tools/Git/GitCli.cs",   "line": 88,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198A1"/>
                </a:solidFill>
                <a:latin typeface="Consolas"/>
              </a:rPr>
              <a:t>"finding": "ProcessStartInfo.Arguments montado por concatenação...",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FB950"/>
                </a:solidFill>
                <a:latin typeface="Consolas"/>
              </a:rPr>
              <a:t>"fix": "Trocar para ArgumentList.Add(...) por argumento."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13/36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85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DEMO 2</a:t>
            </a:r>
            <a:r>
              <a:rPr sz="1600" b="0">
                <a:solidFill>
                  <a:srgbClr val="6E7681"/>
                </a:solidFill>
                <a:latin typeface="Segoe UI"/>
              </a:rPr>
              <a:t>        7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Da reunião ao requisito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198A1"/>
                </a:solidFill>
                <a:latin typeface="Segoe UI"/>
              </a:rPr>
              <a:t>A transcrição de uma reunião de levantamento, com as patologias de uma reunião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743200"/>
            <a:ext cx="10058400" cy="1938528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&gt; squad run --transcript samples/meeting-transcripts/kickoff-catalogo.md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9198A1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C8CFF"/>
                </a:solidFill>
                <a:latin typeface="Consolas"/>
              </a:rPr>
              <a:t>  ◆ transcript-analyst   5 decisões · 3 pendências · 1 suposição não compartilhada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C8CFF"/>
                </a:solidFill>
                <a:latin typeface="Consolas"/>
              </a:rPr>
              <a:t>  ◆ requirements-analyst 21 requisitos, 7 suposições declaradas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D29922"/>
                </a:solidFill>
                <a:latin typeface="Consolas"/>
              </a:rPr>
              <a:t>  ◆ requirements-analyst 4 perguntas para o humano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BC8CFF"/>
                </a:solidFill>
                <a:latin typeface="Segoe UI"/>
              </a:rPr>
              <a:t>O que apontar: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O teste de fogo: o agente lista o p95 como PENDÊNCIA, ou registra como requisito?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O gabarito está no fim do próprio arquivo da transcrição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DA REUNIÃO AO REQUISITO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valor não é resumir a reunião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31673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E6EDF3"/>
                </a:solidFill>
                <a:latin typeface="Consolas"/>
              </a:rPr>
              <a:t>[03:10] Juliana:  Dá pra trabalhar com p95 abaixo de 300 ms?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E6EDF3"/>
                </a:solidFill>
                <a:latin typeface="Consolas"/>
              </a:rPr>
              <a:t>[03:20] Renata:   Se for isso eu assino embaixo.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D29922"/>
                </a:solidFill>
                <a:latin typeface="Consolas"/>
              </a:rPr>
              <a:t>[03:24] Caio:     Anota como meta, não como SLA.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02152"/>
            <a:ext cx="5090007" cy="2057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19456" r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85149"/>
                </a:solidFill>
                <a:latin typeface="Segoe UI"/>
              </a:rPr>
              <a:t>O que um resumo comum produz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E6EDF3"/>
                </a:solidFill>
                <a:latin typeface="Consolas"/>
              </a:rPr>
              <a:t>RNF-03: p95 &lt; 300 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Requisito acordado. Vai para o plano, vira critério de aceite, alguém implementa.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85149"/>
                </a:solidFill>
                <a:latin typeface="Segoe UI"/>
              </a:rPr>
              <a:t>E está errado.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3502152"/>
            <a:ext cx="5090007" cy="2057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19456" r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O que o analista precisa produzir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E6EDF3"/>
                </a:solidFill>
                <a:latin typeface="Consolas"/>
              </a:rPr>
              <a:t>PENDÊNCIA não resolvida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Três pessoas, dois entendimentos, zero reconciliação. Todo mundo saiu da sala achando que estava combinado.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623560"/>
            <a:ext cx="10637215" cy="73152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Separar o que foi decidido do que só pareceu decidido.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15/36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Perguntar bem é mais difícil que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5090007" cy="23774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19456" r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F85149"/>
                </a:solidFill>
                <a:latin typeface="Segoe UI"/>
              </a:rPr>
              <a:t>Pergunta inútil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"Qual estratégia de cache você prefere?"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Aberta. Quem responde precisa já saber a resposta — e se soubesse, não precisaria do agente.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10512"/>
            <a:ext cx="5090007" cy="23774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19456" rIns="219456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Pergunta útil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"Os pedidos precisam sobreviver a uma queda antes da confirmação?"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Sim </a:t>
            </a:r>
            <a:r>
              <a:rPr sz="1400" b="0">
                <a:solidFill>
                  <a:srgbClr val="9198A1"/>
                </a:solidFill>
                <a:latin typeface="Segoe UI"/>
              </a:rPr>
              <a:t>→ outbox + fila, +3 issues, +1 dia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Não </a:t>
            </a:r>
            <a:r>
              <a:rPr sz="1400" b="0">
                <a:solidFill>
                  <a:srgbClr val="9198A1"/>
                </a:solidFill>
                <a:latin typeface="Segoe UI"/>
              </a:rPr>
              <a:t>→ chamada síncrona, plano menor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07992"/>
            <a:ext cx="10637215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600" b="1">
                <a:solidFill>
                  <a:srgbClr val="E6EDF3"/>
                </a:solidFill>
                <a:latin typeface="Segoe UI"/>
              </a:rPr>
              <a:t>No máximo 5 por rodada. </a:t>
            </a:r>
            <a:r>
              <a:rPr sz="1600" b="0">
                <a:solidFill>
                  <a:srgbClr val="9198A1"/>
                </a:solidFill>
                <a:latin typeface="Segoe UI"/>
              </a:rPr>
              <a:t>A paciência de quem responde é finita — numa palestra, mais ainda.</a:t>
            </a:r>
          </a:p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600" b="1">
                <a:solidFill>
                  <a:srgbClr val="E6EDF3"/>
                </a:solidFill>
                <a:latin typeface="Segoe UI"/>
              </a:rPr>
              <a:t>Cada opção mostra o impacto no plano. </a:t>
            </a:r>
            <a:r>
              <a:rPr sz="1600" b="0">
                <a:solidFill>
                  <a:srgbClr val="9198A1"/>
                </a:solidFill>
                <a:latin typeface="Segoe UI"/>
              </a:rPr>
              <a:t>A escolha é entre consequências, não entre rótulos.</a:t>
            </a:r>
          </a:p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600" b="1">
                <a:solidFill>
                  <a:srgbClr val="E6EDF3"/>
                </a:solidFill>
                <a:latin typeface="Segoe UI"/>
              </a:rPr>
              <a:t>Toda pergunta tem um padrão declarado. </a:t>
            </a:r>
            <a:r>
              <a:rPr sz="1600" b="0">
                <a:solidFill>
                  <a:srgbClr val="9198A1"/>
                </a:solidFill>
                <a:latin typeface="Segoe UI"/>
              </a:rPr>
              <a:t>O sistema tem que poder seguir sozinho.</a:t>
            </a:r>
          </a:p>
          <a:p>
            <a:pPr algn="l">
              <a:lnSpc>
                <a:spcPct val="125000"/>
              </a:lnSpc>
              <a:spcAft>
                <a:spcPts val="110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600" b="1">
                <a:solidFill>
                  <a:srgbClr val="E6EDF3"/>
                </a:solidFill>
                <a:latin typeface="Segoe UI"/>
              </a:rPr>
              <a:t>Só pergunta o que muda o plano. </a:t>
            </a:r>
            <a:r>
              <a:rPr sz="1600" b="0">
                <a:solidFill>
                  <a:srgbClr val="9198A1"/>
                </a:solidFill>
                <a:latin typeface="Segoe UI"/>
              </a:rPr>
              <a:t>Se dá para decidir sozinho, decide — e registra como suposição contestável.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16/36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PLANO E PARALELISMO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Dois revisores de plano, com autoridades diferentes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5090007" cy="30175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237744" rIns="23774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VALIDADOR DETERMINÍSTICO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É o portão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11 verificações com resposta certa: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FB950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conflito de arquivo na mesma onda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FB950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dependência em onda posterior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FB950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ciclo no grafo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FB950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item grande demais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FB950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critério de aceite ausente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FB950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requisito sem cobertura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810512"/>
            <a:ext cx="5090007" cy="30175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237744" rIns="23774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29922"/>
                </a:solidFill>
                <a:latin typeface="Segoe UI"/>
              </a:rPr>
              <a:t>AGENTE CRÍTICO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É conselho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Procura o que um programa não vê: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D29922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acoplamento escondido entre itens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D29922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critério que nenhum teste resolve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D29922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trabalho transversal esquecido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D29922"/>
                </a:solidFill>
                <a:latin typeface="Segoe UI"/>
              </a:rPr>
              <a:t>·  </a:t>
            </a:r>
            <a:r>
              <a:rPr sz="1400" b="0">
                <a:solidFill>
                  <a:srgbClr val="E6EDF3"/>
                </a:solidFill>
                <a:latin typeface="Segoe UI"/>
              </a:rPr>
              <a:t>escopo que cresceu sozinho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166360"/>
            <a:ext cx="10637215" cy="96012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800" b="1">
                <a:solidFill>
                  <a:srgbClr val="D29922"/>
                </a:solidFill>
                <a:latin typeface="Segoe UI"/>
              </a:rPr>
              <a:t>Em três execuções o crítico nunca aprovou. </a:t>
            </a:r>
            <a:r>
              <a:rPr sz="1800" b="0">
                <a:solidFill>
                  <a:srgbClr val="E6EDF3"/>
                </a:solidFill>
                <a:latin typeface="Segoe UI"/>
              </a:rPr>
              <a:t>Um modelo revisor sempre acha mais uma coisa a dizer.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A correção foi hierárquica, não de prompt: validador limpo + uma rodada de crítica bastam, e o resto vai para o humano. 8,0 min → 5,9 min.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17/36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85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DEMO 3</a:t>
            </a:r>
            <a:r>
              <a:rPr sz="1600" b="0">
                <a:solidFill>
                  <a:srgbClr val="6E7681"/>
                </a:solidFill>
                <a:latin typeface="Segoe UI"/>
              </a:rPr>
              <a:t>        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Cinco agentes, três ondas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198A1"/>
                </a:solidFill>
                <a:latin typeface="Segoe UI"/>
              </a:rPr>
              <a:t>Cada um em seu worktree, com o gate determinístico decidindo no fim de cada 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743200"/>
            <a:ext cx="10058400" cy="224942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&gt; squad run --request "..." --parallel 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9198A1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3FB950"/>
                </a:solidFill>
                <a:latin typeface="Consolas"/>
              </a:rPr>
              <a:t>  ◆ Onda 1/3: 1 agente     →  Gate aprovado  →  PR #11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3FB950"/>
                </a:solidFill>
                <a:latin typeface="Consolas"/>
              </a:rPr>
              <a:t>  ◆ Onda 2/3: 2 agentes    →  Gate aprovado  →  PR #12, #13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3FB950"/>
                </a:solidFill>
                <a:latin typeface="Consolas"/>
              </a:rPr>
              <a:t>  ◆ Onda 3/3: 2 agentes    →  Gate aprovado  →  PR #14, #15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C8CFF"/>
                </a:solidFill>
                <a:latin typeface="Consolas"/>
              </a:rPr>
              <a:t>  ◆ 5/5 aprovados no gate · 40,3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BC8CFF"/>
                </a:solidFill>
                <a:latin typeface="Segoe UI"/>
              </a:rPr>
              <a:t>O que apontar: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Abra o dashboard do Aspire: spans GenAI ao vivo, com tokens e latência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Se o gate reprovar, PARE e mostre o diagnóstico voltando para o agente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que acontece quando o gate reprova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9198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198A1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86537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O agente diz que terminou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32304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29922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48716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O gate roda e discorda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54096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310896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O diagnóstico do compilador volta verbatim para o agente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75888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373075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Ele corrige e roda de novo — até 2 tentativas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80"/>
            <a:ext cx="420624" cy="42062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85149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352544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Esgotou? PR aberto como draft, marcado needs-human, com o diagnóstico no corpo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93792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37744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Se isso acontecer ao vivo hoje, é para comemorar.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198A1"/>
                </a:solidFill>
                <a:latin typeface="Segoe UI"/>
              </a:rPr>
              <a:t>Um sistema autônomo que nunca é contrariado não está sendo verificado. A parte interessante não é o agente acertar de primeira — é o que acontece quando ele erra.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19/36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Um agente autônomo é uma superfície de ataque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Agência excessiva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783080"/>
            <a:ext cx="608076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5149"/>
                </a:solidFill>
                <a:latin typeface="Segoe UI"/>
              </a:rPr>
              <a:t>LLM08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82880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git push, gh pr e az são NEGADOS pela política. Negação vence qualquer aprovação automática.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Prompt injection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386584"/>
            <a:ext cx="608076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5149"/>
                </a:solidFill>
                <a:latin typeface="Segoe UI"/>
              </a:rPr>
              <a:t>LLM01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32304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Transcrição, README e issue entram delimitados como dado, nunca como instrução.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Exfiltração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990088"/>
            <a:ext cx="608076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5149"/>
                </a:solidFill>
                <a:latin typeface="Segoe UI"/>
              </a:rPr>
              <a:t>LLM06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035808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Fetch restrito a allow-list. .env, .ssh e .pem negados na leitura.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Escape de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639312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Caminho normalizado e comparado com separador final. C:\wt\i42-evil não satisfaz C:\wt\i42.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24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Injeção de comando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242816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ArgumentList sempre. Há teste que passa `a &amp;&amp; whoami` como argumento e confere o round-trip.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Segredos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4800600"/>
            <a:ext cx="763524" cy="31089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85149"/>
                </a:solidFill>
                <a:latin typeface="Segoe UI"/>
              </a:rPr>
              <a:t>SEC-001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84632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198A1"/>
                </a:solidFill>
                <a:latin typeface="Segoe UI"/>
              </a:rPr>
              <a:t>Zero chave no repositório. Foundry com disableLocalAuth. Varredura no diff antes do PR.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68696"/>
            <a:ext cx="10637215" cy="86868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Dentro do worktree o agente é autônomo. Fora dele, é impotente.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20/36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85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DEMO 4</a:t>
            </a:r>
            <a:r>
              <a:rPr sz="1600" b="0">
                <a:solidFill>
                  <a:srgbClr val="6E7681"/>
                </a:solidFill>
                <a:latin typeface="Segoe UI"/>
              </a:rPr>
              <a:t>     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14300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Os pull requests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198A1"/>
                </a:solidFill>
                <a:latin typeface="Segoe UI"/>
              </a:rPr>
              <a:t>Dois níveis: os PRs por item são as unidades de revisão. O PR de entrega é o portão.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743200"/>
            <a:ext cx="10058400" cy="224942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8A6FF"/>
                </a:solidFill>
                <a:latin typeface="Consolas"/>
              </a:rPr>
              <a:t>&gt; gh pr list --repo magoolation/squad-demo-catalogo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9198A1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BC8CFF"/>
                </a:solidFill>
                <a:latin typeface="Consolas"/>
              </a:rPr>
              <a:t>  #27  [agent-generated]  feat: catálogo   agent/run-... → main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6EDF3"/>
                </a:solidFill>
                <a:latin typeface="Consolas"/>
              </a:rPr>
              <a:t>  #15  [area:api]   feat: exponha get products com logs e testes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6EDF3"/>
                </a:solidFill>
                <a:latin typeface="Consolas"/>
              </a:rPr>
              <a:t>  #13  [area:core]  feat: implemente validação filtros e paginação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6EDF3"/>
                </a:solidFill>
                <a:latin typeface="Consolas"/>
              </a:rPr>
              <a:t>  #11  [area:infra] build: crie a base .net e os contratos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BC8CFF"/>
                </a:solidFill>
                <a:latin typeface="Segoe UI"/>
              </a:rPr>
              <a:t>O que apontar: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Abra um PR de item: tabela do gate, apontamento citando TST-004 com arquivo:linha, procedência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600" b="1">
                <a:solidFill>
                  <a:srgbClr val="BC8CFF"/>
                </a:solidFill>
                <a:latin typeface="Segoe UI"/>
              </a:rPr>
              <a:t>▸  </a:t>
            </a:r>
            <a:r>
              <a:rPr sz="1600" b="0">
                <a:solidFill>
                  <a:srgbClr val="E6EDF3"/>
                </a:solidFill>
                <a:latin typeface="Segoe UI"/>
              </a:rPr>
              <a:t>Depois abra o #27: o que entrou, o que NÃO entrou, e 'O merge é seu.'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29922"/>
                </a:solidFill>
                <a:latin typeface="Segoe UI"/>
              </a:rPr>
              <a:t>A PARTE QUE VOCÊ NÃO ENCONTRA EM BLOG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Oito coisas que quebraram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9198A1"/>
                </a:solidFill>
                <a:latin typeface="Segoe UI"/>
              </a:rPr>
              <a:t>e o que cada uma ensinou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2062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198A1"/>
                </a:solidFill>
                <a:latin typeface="Segoe UI"/>
              </a:rPr>
              <a:t>Nenhuma delas aparece em teste unitário. Todas apareceram rodando o sistema de verdade, contra a nuvem de verdade, num repositório de verdade.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1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Os nomes mudaram, e o seu código de blog post quebrou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85149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Azure AI Foundry virou Microsoft Foundry. O papel "Azure AI User" virou "Foundry User". Microsoft.Agents.AI.AzureAI foi abandonado. CreateAIAgent virou AsAIAgent. AgentThread virou AgentSession.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1316736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D29922"/>
                </a:solidFill>
                <a:latin typeface="Consolas"/>
              </a:rPr>
              <a:t>Aspire.Hosting.Azure.AIFoundry   →   Aspire.Hosting.Foundry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D29922"/>
                </a:solidFill>
                <a:latin typeface="Consolas"/>
              </a:rPr>
              <a:t>AddAzureAIFoundry(...)           →   AddFoundry(...)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D29922"/>
                </a:solidFill>
                <a:latin typeface="Consolas"/>
              </a:rPr>
              <a:t>Microsoft.Agents.AI.AzureAI      →   Microsoft.Agents.AI.Foundry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5488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Amarre por GUID, não por nome. Trate a documentação como sugestão e o compilador como autoridade — encontrei erro em página de doc atualizada dois dias 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23/36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2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Modelo de raciocínio rejeita temperature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85149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gpt-5.5 responde HTTP 400: "Unsupported parameter: 'temperature' is not supported with this model". gpt-5.4-mini, no mesmo projeto, aceita normalmente.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69494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HTTP 400 (invalid_request_error)  Parameter: temperature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33088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Enviar temperature incondicionalmente acopla a escolha do modelo à configuração de sampling. Trocar por um modelo melhor quebra o pipeline na primeira chamada. Saída estruturada com schema já é o que restringe esses agentes.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24/36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3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Cota e Marketplace: duas paredes antes do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85149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Uma assinatura pode estar habilitada para um modelo e ter cota ZERO — o deployment falha no preflight. E modelos parceiros (Anthropic, xAI, Mistral) são compra de Marketplace: exigem modelProviderData e um método de pagamento válido.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InsufficientQuota: requires 50 new capacity, available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Marketplace purchase eligibility check failed: no valid payment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43984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Rode az cognitiveservices usage list ANTES de escrever o Bicep. E antes de ensaiar a palestra. Modelos OpenAI são vendidos direto pela Azure e não têm nenhum dos dois requisitos.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25/36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4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git worktree no Windows não é atômico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85149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Quando worktree remove não consegue apagar o diretório — e um processo apenas tê-lo como diretório atual já basta — ele JÁ apagou os arquivos e JÁ desregistrou o worktree. Retry dá "is not a working tree".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error: failed to delete '...': Permission denied   (exit 255)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fatal: '...' is not a working tree                  (exit 128)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43984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A recuperação é sistema de arquivos, não git. E derrube os build servers antes: nós do MSBuild seguram assemblies de analisador por 15 minutos — medido com PIDs estáveis.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26/36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5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NUGET_SCRATCH dividido corrompe o cache para sempre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85149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Os locks entre processos do NuGet vivem em %TEMP%\NuGetScratch, não na pasta de pacotes. Com pasta compartilhada e scratch por worker: 24 de 24 restores concorrentes falharam.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69494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NU5037: The package is missing the required nuspec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33088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E a corrupção é PERMANENTE: todo pacote fica com o marcador de conclusão mas sem o .nuspec, e restores seriais posteriores falham até limpar o cache na mão. Um scratch para todos: 0 falhas em 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27/36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6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gate culpava o agente por um bug meu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BC8CFF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--artifacts-path realoca obj/ além de bin/. Eu passava no build mas não no restore. O build falhava com NETSDK1004, e a falha se parecia exatamente com código quebrado.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69494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error NETSDK1004: Assets file 'obj/project.assets.json' not 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33088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Um gate que culpa a parte errada é pior do que gate nenhum: fez um agente correto parecer incompetente e queimou as tentativas de reparo consertando algo que nunca esteve errado. Rodei o gate à mão no código dele: passava inteiro, com 6 testes.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28/36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7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As ondas não enxergavam umas às outras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F85149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Todo worktree ramificava de main e todo PR mirava main. Como o merge é humano e os PRs ficam abertos, a onda 2 nunca via o trabalho da onda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694944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PR da onda 3 continha a solução inteira, não só a sua mudança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33088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Cada agente reconstruía a fundação do zero, e os cinco PRs conflitariam entre si no merge. A correção: um branch de integração por execução. As ondas acumulam nele, os PRs miram nele, e um único merge humano entrega o conjunto.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29/36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ACHADO 8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A correção do achado 7 fechou PRs que ninguém revisou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10637215" cy="10515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BC8CFF"/>
                </a:solidFill>
                <a:latin typeface="Segoe UI"/>
              </a:rPr>
              <a:t>O SINTOMA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DF3"/>
                </a:solidFill>
                <a:latin typeface="Segoe UI"/>
              </a:rPr>
              <a:t>Integrar uma onda faz os commits dos PRs dela virarem alcançáveis pela base. O GitHub então marca esses PRs como MERGED sozinho. Três deles, sem revisão humana nenhuma.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2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82880" tIns="182880" bIns="16459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#24 #25 #26  MERGED  — nenhum humano abriu esses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B950"/>
                </a:solidFill>
                <a:latin typeface="Consolas"/>
              </a:rPr>
              <a:t>#27  DRAFT  agent/run-... → main  — este é o portão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43984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01168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FB950"/>
                </a:solidFill>
                <a:latin typeface="Segoe UI"/>
              </a:rPr>
              <a:t>A LIÇÃO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É comportamento normal de stacked PRs, não bug — mas a execução terminava sem nada para aprovar, e isso contradiz a regra que está no slide anterior. Faltava a última peça: um PR de entrega, do branch de integração para main. Os PRs por item são unidades de REVISÃO; o de entrega é o PORTÃO.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30/36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OS ACHADOS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padrão por trás dos oito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37215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Nenhum era sobre o modelo. </a:t>
            </a:r>
            <a:r>
              <a:rPr sz="1900" b="0">
                <a:solidFill>
                  <a:srgbClr val="9198A1"/>
                </a:solidFill>
                <a:latin typeface="Segoe UI"/>
              </a:rPr>
              <a:t>Todos eram integração, versão, permissão ou hierarquia de autoridade.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Nenhum aparecia em teste unitário. </a:t>
            </a:r>
            <a:r>
              <a:rPr sz="1900" b="0">
                <a:solidFill>
                  <a:srgbClr val="9198A1"/>
                </a:solidFill>
                <a:latin typeface="Segoe UI"/>
              </a:rPr>
              <a:t>Todos apareceram rodando contra a nuvem de verdade.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Quatro só apareceram depois de 10 minutos de execução. </a:t>
            </a:r>
            <a:r>
              <a:rPr sz="1900" b="0">
                <a:solidFill>
                  <a:srgbClr val="9198A1"/>
                </a:solidFill>
                <a:latin typeface="Segoe UI"/>
              </a:rPr>
              <a:t>Por isso cada integração arriscada virou um diagnóstico que roda em segundos.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O mais caro foi o que culpava a parte errada. </a:t>
            </a:r>
            <a:r>
              <a:rPr sz="1900" b="0">
                <a:solidFill>
                  <a:srgbClr val="9198A1"/>
                </a:solidFill>
                <a:latin typeface="Segoe UI"/>
              </a:rPr>
              <a:t>Um gate com bug faz um agente correto parecer incompetente — e queima as tentativas de reparo.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900" b="1">
                <a:solidFill>
                  <a:srgbClr val="E6EDF3"/>
                </a:solidFill>
                <a:latin typeface="Segoe UI"/>
              </a:rPr>
              <a:t>Um deles foi criado pela correção de outro. </a:t>
            </a:r>
            <a:r>
              <a:rPr sz="1900" b="0">
                <a:solidFill>
                  <a:srgbClr val="9198A1"/>
                </a:solidFill>
                <a:latin typeface="Segoe UI"/>
              </a:rPr>
              <a:t>Consertar o fluxo das ondas passou a fechar PRs que ninguém revisou. Toda correção merece a mesma desconfiança.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10637215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19456" rIns="27432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Se você for construir algo assim, orce o dobro do tempo para integração — e nada para 'fazer o modelo entender'.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198A1"/>
                </a:solidFill>
                <a:latin typeface="Segoe UI"/>
              </a:rPr>
              <a:t>O modelo é a parte que já funciona.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31/36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NA SUA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Por onde começar na segunda-feira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1051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179222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Escreva as regras antes do agente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docs/engineering-rules.md com identificador estável. Sem isso, você não tem como dizer se o agente acertou.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2491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FB950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70662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Automatize o gate para humanos primeiro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Se o seu CI não reprova um PR humano mal formatado, ele não vai reprovar o de um agente.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3931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362102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Um agente, uma issue, um worktree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Não comece com cinco. Faça um funcionar de ponta a ponta, incluindo o PR.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5371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8A6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453542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Só então paralelize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E no minuto em que paralelizar, implemente a regra do conflito de arquivo.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6811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29922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544982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Meça antes de otimizar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198A1"/>
                </a:solidFill>
                <a:latin typeface="Segoe UI"/>
              </a:rPr>
              <a:t>Quanto custa uma execução? Quantos reparos por item? Onde o tempo vai?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32/36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NA SUA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que não negociar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37215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Verificação determinística. </a:t>
            </a:r>
            <a:r>
              <a:rPr sz="1800" b="0">
                <a:solidFill>
                  <a:srgbClr val="9198A1"/>
                </a:solidFill>
                <a:latin typeface="Segoe UI"/>
              </a:rPr>
              <a:t>O modelo produz, o programa verifica. Sempre.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Um PR que proponha mexer no main. </a:t>
            </a:r>
            <a:r>
              <a:rPr sz="1800" b="0">
                <a:solidFill>
                  <a:srgbClr val="9198A1"/>
                </a:solidFill>
                <a:latin typeface="Segoe UI"/>
              </a:rPr>
              <a:t>E que nenhum agente tenha permissão de aprovar.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Sandbox técnico, não instrução. </a:t>
            </a:r>
            <a:r>
              <a:rPr sz="1800" b="0">
                <a:solidFill>
                  <a:srgbClr val="9198A1"/>
                </a:solidFill>
                <a:latin typeface="Segoe UI"/>
              </a:rPr>
              <a:t>Impedir é diferente de pedir. Numa auditoria, muito diferente.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Teto de gasto e de iteração. </a:t>
            </a:r>
            <a:r>
              <a:rPr sz="1800" b="0">
                <a:solidFill>
                  <a:srgbClr val="9198A1"/>
                </a:solidFill>
                <a:latin typeface="Segoe UI"/>
              </a:rPr>
              <a:t>Tentativas, timeout por agente, timeout por execução, limite de concorrência.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Auditabilidade. </a:t>
            </a:r>
            <a:r>
              <a:rPr sz="1800" b="0">
                <a:solidFill>
                  <a:srgbClr val="9198A1"/>
                </a:solidFill>
                <a:latin typeface="Segoe UI"/>
              </a:rPr>
              <a:t>Prompt, modelo, tokens, ferramentas chamadas, permissões negadas e diff — tudo gravado.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Transparência. </a:t>
            </a:r>
            <a:r>
              <a:rPr sz="1800" b="0">
                <a:solidFill>
                  <a:srgbClr val="9198A1"/>
                </a:solidFill>
                <a:latin typeface="Segoe UI"/>
              </a:rPr>
              <a:t>Todo PR de agente é rotulado e declara qual modelo o produziu.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394960"/>
            <a:ext cx="10637215" cy="777240"/>
          </a:xfrm>
          <a:prstGeom prst="roundRect">
            <a:avLst>
              <a:gd name="adj" fmla="val 8000"/>
            </a:avLst>
          </a:prstGeom>
          <a:solidFill>
            <a:srgbClr val="010409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Essas seis coisas são o que separa uma demo de um sistema que você pode colocar numa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33/36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HONESTIDADE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039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O que eu não resolvi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63624"/>
            <a:ext cx="10637215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637215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Custo real por entrega. </a:t>
            </a:r>
            <a:r>
              <a:rPr sz="1800" b="0">
                <a:solidFill>
                  <a:srgbClr val="9198A1"/>
                </a:solidFill>
                <a:latin typeface="Segoe UI"/>
              </a:rPr>
              <a:t>Medi tempo, não dinheiro. Uma execução de 40 min consome tokens de 6 agentes.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Brownfield grande de verdade. </a:t>
            </a:r>
            <a:r>
              <a:rPr sz="1800" b="0">
                <a:solidFill>
                  <a:srgbClr val="9198A1"/>
                </a:solidFill>
                <a:latin typeface="Segoe UI"/>
              </a:rPr>
              <a:t>Validei greenfield e mudanças pequenas. Repositório legado de 500 mil linhas é outro problema.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Retomada de execução. </a:t>
            </a:r>
            <a:r>
              <a:rPr sz="1800" b="0">
                <a:solidFill>
                  <a:srgbClr val="9198A1"/>
                </a:solidFill>
                <a:latin typeface="Segoe UI"/>
              </a:rPr>
              <a:t>Uma execução interrompida recomeça do zero. O journal preserva o histórico, mas não o estado.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Qualidade sustentada. </a:t>
            </a:r>
            <a:r>
              <a:rPr sz="1800" b="0">
                <a:solidFill>
                  <a:srgbClr val="9198A1"/>
                </a:solidFill>
                <a:latin typeface="Segoe UI"/>
              </a:rPr>
              <a:t>Cinco PRs aprovados no gate não são cinco PRs que eu mandaria para produção sem ler.</a:t>
            </a: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—  </a:t>
            </a:r>
            <a:r>
              <a:rPr sz="1800" b="1">
                <a:solidFill>
                  <a:srgbClr val="E6EDF3"/>
                </a:solidFill>
                <a:latin typeface="Segoe UI"/>
              </a:rPr>
              <a:t>O crítico ainda é barulhento. </a:t>
            </a:r>
            <a:r>
              <a:rPr sz="1800" b="0">
                <a:solidFill>
                  <a:srgbClr val="9198A1"/>
                </a:solidFill>
                <a:latin typeface="Segoe UI"/>
              </a:rPr>
              <a:t>Melhorou com a mudança de hierarquia, mas ainda aponta mais do que deveria.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303520"/>
            <a:ext cx="10637215" cy="8686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6EDF3"/>
                </a:solidFill>
                <a:latin typeface="Segoe UI"/>
              </a:rPr>
              <a:t>Se alguém te vender isso como resolvido, desconfie. É promissor, e está longe de pronto.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Agent Squad · TDC São Paulo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681"/>
                </a:solidFill>
                <a:latin typeface="Segoe UI"/>
              </a:rPr>
              <a:t>34/36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Segoe UI"/>
              </a:rPr>
              <a:t>PARA LEVAR PARA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O gargalo não é escrever código.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9198A1"/>
                </a:solidFill>
                <a:latin typeface="Segoe UI"/>
              </a:rPr>
              <a:t>É decidir o que escrever, coordenar quem escreve, e verificar.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657600"/>
            <a:ext cx="10058400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77639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58A6FF"/>
                </a:solidFill>
                <a:latin typeface="Segoe UI"/>
              </a:rPr>
              <a:t>▸  </a:t>
            </a:r>
            <a:r>
              <a:rPr sz="2000" b="0">
                <a:solidFill>
                  <a:srgbClr val="E6EDF3"/>
                </a:solidFill>
                <a:latin typeface="Segoe UI"/>
              </a:rPr>
              <a:t>O modelo produz. O programa verifica.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58A6FF"/>
                </a:solidFill>
                <a:latin typeface="Segoe UI"/>
              </a:rPr>
              <a:t>▸  </a:t>
            </a:r>
            <a:r>
              <a:rPr sz="2000" b="0">
                <a:solidFill>
                  <a:srgbClr val="E6EDF3"/>
                </a:solidFill>
                <a:latin typeface="Segoe UI"/>
              </a:rPr>
              <a:t>Restrição é o que faz paralelismo funcionar — não inteligência.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58A6FF"/>
                </a:solidFill>
                <a:latin typeface="Segoe UI"/>
              </a:rPr>
              <a:t>▸  </a:t>
            </a:r>
            <a:r>
              <a:rPr sz="2000" b="0">
                <a:solidFill>
                  <a:srgbClr val="E6EDF3"/>
                </a:solidFill>
                <a:latin typeface="Segoe UI"/>
              </a:rPr>
              <a:t>As regras da sua empresa são arquivo versionado, não prompt escondido.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58A6FF"/>
                </a:solidFill>
                <a:latin typeface="Segoe UI"/>
              </a:rPr>
              <a:t>▸  </a:t>
            </a:r>
            <a:r>
              <a:rPr sz="2000" b="0">
                <a:solidFill>
                  <a:srgbClr val="E6EDF3"/>
                </a:solidFill>
                <a:latin typeface="Segoe UI"/>
              </a:rPr>
              <a:t>O merge continua sendo humano. Isso não é limitação, é o desenho.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6400" b="1">
                <a:solidFill>
                  <a:srgbClr val="FFFFFF"/>
                </a:solidFill>
                <a:latin typeface="Segoe UI"/>
              </a:rPr>
              <a:t>Perguntas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9198A1"/>
                </a:solidFill>
                <a:latin typeface="Segoe UI"/>
              </a:rPr>
              <a:t>e depois um café, se você quiser continuar a conversa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794760"/>
            <a:ext cx="10058400" cy="1587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114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9198A1"/>
                </a:solidFill>
                <a:latin typeface="Segoe UI"/>
              </a:rPr>
              <a:t>Todo o código, as regras, o runbook e a transcrição de exemplo: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58A6FF"/>
                </a:solidFill>
                <a:latin typeface="Consolas"/>
              </a:rPr>
              <a:t>github.com/magoolation/tdc-sp-2026-agent-squad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Alexandre Costa</a:t>
            </a:r>
            <a:r>
              <a:rPr sz="1700" b="0">
                <a:solidFill>
                  <a:srgbClr val="6E7681"/>
                </a:solidFill>
                <a:latin typeface="Segoe UI"/>
              </a:rPr>
              <a:t>     ·     </a:t>
            </a:r>
            <a:r>
              <a:rPr sz="1700" b="0">
                <a:solidFill>
                  <a:srgbClr val="9198A1"/>
                </a:solidFill>
                <a:latin typeface="Segoe UI"/>
              </a:rPr>
              <a:t>linkedin.com/in/magoolation</a:t>
            </a:r>
            <a:r>
              <a:rPr sz="1700" b="0">
                <a:solidFill>
                  <a:srgbClr val="6E7681"/>
                </a:solidFill>
                <a:latin typeface="Segoe UI"/>
              </a:rPr>
              <a:t>     ·     </a:t>
            </a:r>
            <a:r>
              <a:rPr sz="1700" b="0">
                <a:solidFill>
                  <a:srgbClr val="9198A1"/>
                </a:solidFill>
                <a:latin typeface="Segoe UI"/>
              </a:rPr>
              <a:t>@magoolation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