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Enquanto a plateia senta: deixe o terminal já aberto com o doctor rodado e verde. Abra dizendo o que a sessão NÃO é: não é sobre um agente escrever código — todo mundo já viu isso. É sobre colocar VÁRIOS agentes para trabalhar ao mesmo tempo sem que eles briguem, e sobre quem decide se o que eles fizeram presta.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PREENCHA ESTE SLIDE ANTES. Trinta segundos, no máximo um minuto. Diga uma coisa que te dá credibilidade para falar disso — não o currículo inteiro. Emende direto na agenda.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Não leia a agenda item por item — aponte e resuma em vinte segundos. Destaque só isto: metade do tempo é demo ao vivo, e a parte dos achados é o que você não encontra em nenhum blog post. Prometa isso; depois entregue.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slide desarma a expectativa. Boa parte da plateia já usa Copilot ou Claude Code. Se você prometer 'agente que escreve código', perde a sala. Diga em voz alta: o gargalo não é mais escrever código — é decidir o que escrever, coordenar quem escreve o quê, e verificar. Essas três coisas são engenharia, não modelo.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Vá devagar aqui — é a fundação da palestra. Peça um levantar de mãos: quem já teve dois PRs conflitando por descuido de coordenação humana? Agora imagine isso automatizado, cinco vezes, sem ninguém olhando. Fecha com a frase do painel: a solução é restrição, não inteligência.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Percorra os oito blocos em ~90 segundos, apontando. Não detalhe ainda — cada demo vai abrir um deles. O que precisa ficar: os dois portões amarelos. Diga: 'a fábrica é autônoma no meio, e amarrada nas pontas — é exatamente aí que ela se torna utilizável numa empresa de verdade'.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Passe rápido — 60 segundos. A plateia quer ver funcionando, não ouvir lista de tecnologia. Destaque só dois pontos: 'sem nenhuma chave de API' (Entra ID de ponta a ponta) e 'o Copilot vira um AIAgent como qualquer outro' — é isso que permite compor tudo no mesmo modelo.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ponto deste slide é a separação de papéis. Seis agentes pensam, um escreve. Se um agente de análise 'quiser' editar um arquivo, ele devolve um finding estruturado — não edita. Isso é o que torna a coisa auditável: você sabe exatamente quem tocou no quê.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é o slide mais importante da palestra depois do próximo. Frase para repetir: 'o modelo produz, o programa verifica'. Se sobrar só uma ideia na cabeça da plateia, que seja esta.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Segunda frase para repetir. Explique o custo concreto: dois agentes, dois worktrees, o mesmo arquivo — dois PRs que conflitam, e você trocou paralelismo por resolução de conflito. O detalhe que impressiona: é um modelo que propõe o plano, mas é um PROGRAMA que decide se ele pode rodar. Se o validador reprova, o plano volta para o arquiteto com o código do erro.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Aqui é onde a plateia corporativa acorda. A pergunta que todo tech lead faz é 'como eu faço ele seguir o NOSSO padrão?'. A resposta: não é fine-tuning, não é prompt secreto — é arquivo no repositório, que passa por code review como qualquer outro. Mostre o comando 'copilot skill list' ao vivo se sobrar tempo.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painel embaixo é a prova: o revisor automatizado não diz 'achei feio'. Ele cita SEC-004, arquivo, linha, e a correção concreta. Diga: um revisor que não sabe nomear a regra que está aplicando está expressando gosto — e gosto não pode bloquear um pipeline.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é o slide que as pessoas fotografam. A transcrição de exemplo foi escrita de propósito com as patologias de uma reunião real: um requisito que ninguém quantificou, uma divergência sem resolução, um 'obviamente' que não é óbvio, e uma decisão tomada por quem chegou atrasado. Se o agente acertar ao vivo, pare e deixe a plateia ler. Se errar, também pare — e explique que é exatamente por isso que existe aprovação humana.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Uma pergunta ruim é pior que nenhuma pergunta: consome atenção e não melhora a decisão. O critério que uso: a pergunta só existe se (a) muda o PLANO, (b) não dá para responder lendo o repositório, e (c) escolher errado é caro de desfazer. Falhou em qualquer um dos três? O agente decide e registra como suposição, para o humano contestar na aprovação.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Adiante um dos achados aqui — ele encaixa perfeitamente. Eu pedi ao crítico, no prompt, para aprovar quando o plano estivesse bom. Ele nunca aprovou. A lição não é 'melhore o prompt': é que você não pode dar poder de veto a algo que não sabe parar de opinar. Validador é portão, crítico é conselho.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PREPARE-SE para isso acontecer. Na minha execução de validação, o gate reprovou duas vezes antes de aprovar. Se acontecer, use o roteiro: 'repararam? o agente disse que terminou, o compilador discordou, e o diagnóstico volta para ele'. Isso vende a ideia melhor do que qualquer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obrigatório para plateia corporativa — é a primeira pergunta do time de segurança. O ponto central: não é que a gente PEÇA ao agente para não dar push. A política de permissões do Copilot SDK IMPEDE, e negação vence aprovação automática. Isso é diferente de instrução em prompt, e a diferença importa numa auditoria.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Transição importante. Diga: 'a partir daqui eu paro de te vender a solução e começo a te contar o que deu errado'. Plateia técnica confia muito mais em quem mostra as cicatrizes. Estes sete achados custaram horas cada um.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slide é a tese da palestra em quatro linhas. Se alguém for embora depois disso, levou o essencial: construir uma fábrica de agentes é 20% prompt e 80% engenharia de integração e verificação.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prático — a plateia está esperando por ele. Enfatize o passo 2: se o CI de vocês hoje não reprova um PR humano mal formatado, automatizar agente é prematuro. O gate é pré-requisito, não consequência.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Leia devagar. Cada item aqui é uma conversa que você vai ter com segurança, com compliance, ou com o seu diretor. Ter a resposta pronta é o que faz o projeto ser aprovado.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Não pule este slide por falta de tempo — corte outro. Ele é o que separa a sua palestra das outras vinte sobre IA no evento. Plateia técnica perdoa limitação declarada e desconfia de solução perfeita.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Quatro frases, trinta segundos. Diga devagar e faça pausa entre elas. Depois passe direto para o slide de perguntas — não encerre duas vezes.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Deixe este slide no telão durante todas as perguntas — o link fica visível. PERGUNTAS QUE VÃO VIR, e as respostas curtas:</a:t>
            </a:r>
          </a:p>
          <a:p/>
          <a:p>
            <a:r>
              <a:t>• 'Quanto custa?' — Medi tempo, não dinheiro; uma execução de 40 min usa 6 agentes. Seja honesto que não mediu.</a:t>
            </a:r>
          </a:p>
          <a:p>
            <a:r>
              <a:t>• 'Funciona em legado?' — Validei greenfield e mudanças pequenas. Em legado o intake lê o repositório primeiro, mas não testei em escala.</a:t>
            </a:r>
          </a:p>
          <a:p>
            <a:r>
              <a:t>• 'Substitui desenvolvedor?' — Não. Move o trabalho de escrever para especificar e revisar. E o merge continua humano.</a:t>
            </a:r>
          </a:p>
          <a:p>
            <a:r>
              <a:t>• 'Por que não CrewAI/AutoGen/LangGraph?' — A escolha aqui foi .NET + Agent Framework porque era o contexto; o desenho (gate determinístico, regra de conflito, worktree) é independente de framework.</a:t>
            </a:r>
          </a:p>
          <a:p>
            <a:r>
              <a:t>• 'E se o agente fizer besteira?' — A política de permissões impede push, PR e comandos de infraestrutura. E nada entra sem merge humano.</a:t>
            </a:r>
          </a:p>
          <a:p>
            <a:r>
              <a:t>• 'Posso usar no meu trabalho?' — MIT, está tudo no repositório.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73736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58A6FF"/>
                </a:solidFill>
                <a:latin typeface="Segoe UI"/>
              </a:rPr>
              <a:t>TDC SÃO PAULO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94560"/>
            <a:ext cx="1024128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6600" b="1">
                <a:solidFill>
                  <a:srgbClr val="FFFFFF"/>
                </a:solidFill>
                <a:latin typeface="Segoe UI"/>
              </a:rPr>
              <a:t>Agent Squad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>
                <a:solidFill>
                  <a:srgbClr val="E6EDF3"/>
                </a:solidFill>
                <a:latin typeface="Segoe UI"/>
              </a:rPr>
              <a:t>Uma fábrica de software autônoma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06908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9198A1"/>
                </a:solidFill>
                <a:latin typeface="Segoe UI"/>
              </a:rPr>
              <a:t>Da transcrição de uma reunião ao pull request — com agentes em paralelo, e um humano decidindo o que importa.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7280" y="5029200"/>
            <a:ext cx="9966960" cy="15875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525780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700" b="1">
                <a:solidFill>
                  <a:srgbClr val="E6EDF3"/>
                </a:solidFill>
                <a:latin typeface="Segoe UI"/>
              </a:rPr>
              <a:t>.NET 10</a:t>
            </a:r>
            <a:r>
              <a:rPr sz="1700" b="0">
                <a:solidFill>
                  <a:srgbClr val="6E7681"/>
                </a:solidFill>
                <a:latin typeface="Segoe UI"/>
              </a:rPr>
              <a:t>   ·   </a:t>
            </a:r>
            <a:r>
              <a:rPr sz="1700" b="1">
                <a:solidFill>
                  <a:srgbClr val="E6EDF3"/>
                </a:solidFill>
                <a:latin typeface="Segoe UI"/>
              </a:rPr>
              <a:t>Microsoft Agent Framework</a:t>
            </a:r>
            <a:r>
              <a:rPr sz="1700" b="0">
                <a:solidFill>
                  <a:srgbClr val="6E7681"/>
                </a:solidFill>
                <a:latin typeface="Segoe UI"/>
              </a:rPr>
              <a:t>   ·   </a:t>
            </a:r>
            <a:r>
              <a:rPr sz="1700" b="1">
                <a:solidFill>
                  <a:srgbClr val="E6EDF3"/>
                </a:solidFill>
                <a:latin typeface="Segoe UI"/>
              </a:rPr>
              <a:t>Microsoft Foundry</a:t>
            </a:r>
            <a:r>
              <a:rPr sz="1700" b="0">
                <a:solidFill>
                  <a:srgbClr val="6E7681"/>
                </a:solidFill>
                <a:latin typeface="Segoe UI"/>
              </a:rPr>
              <a:t>   ·   </a:t>
            </a:r>
            <a:r>
              <a:rPr sz="1700" b="1">
                <a:solidFill>
                  <a:srgbClr val="E6EDF3"/>
                </a:solidFill>
                <a:latin typeface="Segoe UI"/>
              </a:rPr>
              <a:t>GitHub Copilot SDK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8064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9198A1"/>
                </a:solidFill>
                <a:latin typeface="Segoe UI"/>
              </a:rPr>
              <a:t>Alexandre Costa  ·  github.com/magoolation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APRESENTAÇÃO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50392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6EDF3"/>
                </a:solidFill>
                <a:latin typeface="Segoe UI"/>
              </a:rPr>
              <a:t>Quem está falando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63624"/>
            <a:ext cx="10637215" cy="15875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1947672"/>
            <a:ext cx="2834640" cy="2834640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E7681"/>
                </a:solidFill>
                <a:latin typeface="Segoe UI"/>
              </a:rPr>
              <a:t>[ sua foto aqui 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77640" y="1993392"/>
            <a:ext cx="74368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FFFFFF"/>
                </a:solidFill>
                <a:latin typeface="Segoe UI"/>
              </a:rPr>
              <a:t>Alexandre Costa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8A6FF"/>
                </a:solidFill>
                <a:latin typeface="Segoe UI"/>
              </a:rPr>
              <a:t>[SEU CARGO] · [SUA EMPRESA]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7640" y="2999232"/>
            <a:ext cx="7436815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9198A1"/>
                </a:solidFill>
                <a:latin typeface="Segoe UI"/>
              </a:rPr>
              <a:t>[Duas ou três linhas sobre você: anos de experiência, no que trabalha hoje, o que te levou a construir isto. Mantenha curto — a plateia quer o conteúdo, e você tem uma hora.]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77640" y="4325112"/>
            <a:ext cx="1929384" cy="310896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github.com/magoolation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20840" y="4325112"/>
            <a:ext cx="1385316" cy="310896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B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BC8CFF"/>
                </a:solidFill>
                <a:latin typeface="Segoe UI"/>
              </a:rPr>
              <a:t>[@seu-linkedin]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464040" y="4325112"/>
            <a:ext cx="841248" cy="310896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9198A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9198A1"/>
                </a:solidFill>
                <a:latin typeface="Segoe UI"/>
              </a:rPr>
              <a:t>[@seu-x]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44068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700" b="0">
                <a:solidFill>
                  <a:srgbClr val="9198A1"/>
                </a:solidFill>
                <a:latin typeface="Segoe UI"/>
              </a:rPr>
              <a:t>Tudo que você vai ver hoje é código aberto: </a:t>
            </a:r>
            <a:r>
              <a:rPr sz="1700" b="1">
                <a:solidFill>
                  <a:srgbClr val="58A6FF"/>
                </a:solidFill>
                <a:latin typeface="Consolas"/>
              </a:rPr>
              <a:t>github.com/magoolation/tdc-sp-2026-agent-squad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291072"/>
            <a:ext cx="744605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Agent Squad · TDC São Paulo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1717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2/35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50392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6EDF3"/>
                </a:solidFill>
                <a:latin typeface="Segoe UI"/>
              </a:rPr>
              <a:t>Uma hora, quatro demos ao vivo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63624"/>
            <a:ext cx="10637215" cy="15875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1856232"/>
            <a:ext cx="475488" cy="475488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58A6FF"/>
                </a:solidFill>
                <a:latin typeface="Segoe U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1874520"/>
            <a:ext cx="85039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800" b="1">
                <a:solidFill>
                  <a:srgbClr val="E6EDF3"/>
                </a:solidFill>
                <a:latin typeface="Segoe UI"/>
              </a:rPr>
              <a:t>O problema</a:t>
            </a:r>
            <a:r>
              <a:rPr sz="1800" b="0">
                <a:solidFill>
                  <a:srgbClr val="9198A1"/>
                </a:solidFill>
                <a:latin typeface="Segoe UI"/>
              </a:rPr>
              <a:t>    Por que paralelizar agentes é diferente de usar um agente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8615" y="1901952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E7681"/>
                </a:solidFill>
                <a:latin typeface="Segoe UI"/>
              </a:rPr>
              <a:t>8 min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514600"/>
            <a:ext cx="475488" cy="475488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58A6FF"/>
                </a:solidFill>
                <a:latin typeface="Segoe U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2532888"/>
            <a:ext cx="85039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800" b="1">
                <a:solidFill>
                  <a:srgbClr val="E6EDF3"/>
                </a:solidFill>
                <a:latin typeface="Segoe UI"/>
              </a:rPr>
              <a:t>A fábrica</a:t>
            </a:r>
            <a:r>
              <a:rPr sz="1800" b="0">
                <a:solidFill>
                  <a:srgbClr val="9198A1"/>
                </a:solidFill>
                <a:latin typeface="Segoe UI"/>
              </a:rPr>
              <a:t>    Pipeline, arquitetura, e as duas decisões que sustentam tudo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08615" y="2560320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E7681"/>
                </a:solidFill>
                <a:latin typeface="Segoe UI"/>
              </a:rPr>
              <a:t>10 min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172968"/>
            <a:ext cx="475488" cy="475488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58A6FF"/>
                </a:solidFill>
                <a:latin typeface="Segoe U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3191256"/>
            <a:ext cx="85039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800" b="1">
                <a:solidFill>
                  <a:srgbClr val="E6EDF3"/>
                </a:solidFill>
                <a:latin typeface="Segoe UI"/>
              </a:rPr>
              <a:t>Personalização</a:t>
            </a:r>
            <a:r>
              <a:rPr sz="1800" b="0">
                <a:solidFill>
                  <a:srgbClr val="9198A1"/>
                </a:solidFill>
                <a:latin typeface="Segoe UI"/>
              </a:rPr>
              <a:t>    As regras da sua empresa como arquivo versionado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08615" y="3218688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E7681"/>
                </a:solidFill>
                <a:latin typeface="Segoe UI"/>
              </a:rPr>
              <a:t>6 min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3831336"/>
            <a:ext cx="475488" cy="475488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58A6FF"/>
                </a:solidFill>
                <a:latin typeface="Segoe U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849624"/>
            <a:ext cx="85039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800" b="1">
                <a:solidFill>
                  <a:srgbClr val="E6EDF3"/>
                </a:solidFill>
                <a:latin typeface="Segoe UI"/>
              </a:rPr>
              <a:t>Demos</a:t>
            </a:r>
            <a:r>
              <a:rPr sz="1800" b="0">
                <a:solidFill>
                  <a:srgbClr val="9198A1"/>
                </a:solidFill>
                <a:latin typeface="Segoe UI"/>
              </a:rPr>
              <a:t>    Pré-requisitos · reunião → requisitos · agentes em paralelo · PRs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8615" y="3877056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E7681"/>
                </a:solidFill>
                <a:latin typeface="Segoe UI"/>
              </a:rPr>
              <a:t>16 min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489704"/>
            <a:ext cx="475488" cy="475488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58A6FF"/>
                </a:solidFill>
                <a:latin typeface="Segoe UI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507992"/>
            <a:ext cx="85039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800" b="1">
                <a:solidFill>
                  <a:srgbClr val="E6EDF3"/>
                </a:solidFill>
                <a:latin typeface="Segoe UI"/>
              </a:rPr>
              <a:t>Os achados</a:t>
            </a:r>
            <a:r>
              <a:rPr sz="1800" b="0">
                <a:solidFill>
                  <a:srgbClr val="9198A1"/>
                </a:solidFill>
                <a:latin typeface="Segoe UI"/>
              </a:rPr>
              <a:t>    O que quebrou de verdade, e o que cada quebra ensinou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08615" y="4535424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E7681"/>
                </a:solidFill>
                <a:latin typeface="Segoe UI"/>
              </a:rPr>
              <a:t>10 min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5148072"/>
            <a:ext cx="475488" cy="475488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58A6FF"/>
                </a:solidFill>
                <a:latin typeface="Segoe UI"/>
              </a:rPr>
              <a:t>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08760" y="5166360"/>
            <a:ext cx="85039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800" b="1">
                <a:solidFill>
                  <a:srgbClr val="E6EDF3"/>
                </a:solidFill>
                <a:latin typeface="Segoe UI"/>
              </a:rPr>
              <a:t>Na sua empresa</a:t>
            </a:r>
            <a:r>
              <a:rPr sz="1800" b="0">
                <a:solidFill>
                  <a:srgbClr val="9198A1"/>
                </a:solidFill>
                <a:latin typeface="Segoe UI"/>
              </a:rPr>
              <a:t>    Por onde começar, e o que não negociar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08615" y="5193792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E7681"/>
                </a:solidFill>
                <a:latin typeface="Segoe UI"/>
              </a:rPr>
              <a:t>6 min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5806440"/>
            <a:ext cx="475488" cy="475488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58A6FF"/>
                </a:solidFill>
                <a:latin typeface="Segoe UI"/>
              </a:rPr>
              <a:t>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08760" y="5824728"/>
            <a:ext cx="85039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800" b="1">
                <a:solidFill>
                  <a:srgbClr val="E6EDF3"/>
                </a:solidFill>
                <a:latin typeface="Segoe UI"/>
              </a:rPr>
              <a:t>Perguntas</a:t>
            </a:r>
            <a:r>
              <a:rPr sz="1800" b="0">
                <a:solidFill>
                  <a:srgbClr val="9198A1"/>
                </a:solidFill>
                <a:latin typeface="Segoe UI"/>
              </a:rPr>
              <a:t>    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08615" y="5852160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E7681"/>
                </a:solidFill>
                <a:latin typeface="Segoe UI"/>
              </a:rPr>
              <a:t>10 min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291072"/>
            <a:ext cx="744605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Agent Squad · TDC São Paulo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31717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3/35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O PROBLEMA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50392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6EDF3"/>
                </a:solidFill>
                <a:latin typeface="Segoe UI"/>
              </a:rPr>
              <a:t>A promessa é velha. O problema, não.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63624"/>
            <a:ext cx="10637215" cy="15875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1810512"/>
            <a:ext cx="5090007" cy="32004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274320" tIns="27432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2000" b="1">
                <a:solidFill>
                  <a:srgbClr val="D29922"/>
                </a:solidFill>
                <a:latin typeface="Segoe UI"/>
              </a:rPr>
              <a:t>O que já sabemos fazer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200"/>
              </a:spcAft>
            </a:pPr>
            <a:r>
              <a:rPr sz="2400" b="1">
                <a:solidFill>
                  <a:srgbClr val="E6EDF3"/>
                </a:solidFill>
                <a:latin typeface="Segoe UI"/>
              </a:rPr>
              <a:t>Um agente escreve código.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0">
                <a:solidFill>
                  <a:srgbClr val="9198A1"/>
                </a:solidFill>
                <a:latin typeface="Segoe UI"/>
              </a:rPr>
              <a:t>Você pede, ele implementa, você revisa. Funciona, é útil, e já é rotina para muita gente nesta sala.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E6EDF3"/>
                </a:solidFill>
                <a:latin typeface="Segoe UI"/>
              </a:rPr>
              <a:t>O gargalo deixou de ser escrever código.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24447" y="1810512"/>
            <a:ext cx="5090007" cy="32004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274320" tIns="27432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2000" b="1">
                <a:solidFill>
                  <a:srgbClr val="58A6FF"/>
                </a:solidFill>
                <a:latin typeface="Segoe UI"/>
              </a:rPr>
              <a:t>O que ainda não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200"/>
              </a:spcAft>
            </a:pPr>
            <a:r>
              <a:rPr sz="2400" b="1">
                <a:solidFill>
                  <a:srgbClr val="FFFFFF"/>
                </a:solidFill>
                <a:latin typeface="Segoe UI"/>
              </a:rPr>
              <a:t>Cinco agentes ao mesmo tempo.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0">
                <a:solidFill>
                  <a:srgbClr val="9198A1"/>
                </a:solidFill>
                <a:latin typeface="Segoe UI"/>
              </a:rPr>
              <a:t>Quem decide o que cada um faz? Como eles não se atropelam? Quem diz se o resultado presta — e quem é responsável quando não presta?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E6EDF3"/>
                </a:solidFill>
                <a:latin typeface="Segoe UI"/>
              </a:rPr>
              <a:t>É aí que a coisa deixa de ser sobre modelo.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330952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800"/>
              </a:spcAft>
            </a:pPr>
            <a:r>
              <a:rPr sz="2300" b="0">
                <a:solidFill>
                  <a:srgbClr val="9198A1"/>
                </a:solidFill>
                <a:latin typeface="Segoe UI"/>
              </a:rPr>
              <a:t>O problema não é a inteligência do agente. É a </a:t>
            </a:r>
            <a:r>
              <a:rPr sz="2300" b="1">
                <a:solidFill>
                  <a:srgbClr val="FFFFFF"/>
                </a:solidFill>
                <a:latin typeface="Segoe UI"/>
              </a:rPr>
              <a:t>engenharia em volta dele</a:t>
            </a:r>
            <a:r>
              <a:rPr sz="2300" b="0">
                <a:solidFill>
                  <a:srgbClr val="9198A1"/>
                </a:solidFill>
                <a:latin typeface="Segoe UI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291072"/>
            <a:ext cx="744605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Agent Squad · TDC São Paulo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1717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4/35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O PROBLEMA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50392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6EDF3"/>
                </a:solidFill>
                <a:latin typeface="Segoe UI"/>
              </a:rPr>
              <a:t>Por que dois agentes são muito mais que o dobro de um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63624"/>
            <a:ext cx="10637215" cy="15875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01952"/>
            <a:ext cx="10637215" cy="4133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700"/>
              </a:spcAft>
            </a:pPr>
            <a:r>
              <a:rPr sz="1900" b="1">
                <a:solidFill>
                  <a:srgbClr val="58A6FF"/>
                </a:solidFill>
                <a:latin typeface="Segoe UI"/>
              </a:rPr>
              <a:t>—  </a:t>
            </a:r>
            <a:r>
              <a:rPr sz="1900" b="1">
                <a:solidFill>
                  <a:srgbClr val="E6EDF3"/>
                </a:solidFill>
                <a:latin typeface="Segoe UI"/>
              </a:rPr>
              <a:t>Conflito. </a:t>
            </a:r>
            <a:r>
              <a:rPr sz="1900" b="0">
                <a:solidFill>
                  <a:srgbClr val="9198A1"/>
                </a:solidFill>
                <a:latin typeface="Segoe UI"/>
              </a:rPr>
              <a:t>Dois agentes editando OrderService.cs ao mesmo tempo produzem dois PRs que conflitam. O paralelismo que você comprou vira retrabalho.</a:t>
            </a:r>
          </a:p>
          <a:p>
            <a:pPr algn="l">
              <a:lnSpc>
                <a:spcPct val="125000"/>
              </a:lnSpc>
              <a:spcAft>
                <a:spcPts val="1700"/>
              </a:spcAft>
            </a:pPr>
            <a:r>
              <a:rPr sz="1900" b="1">
                <a:solidFill>
                  <a:srgbClr val="58A6FF"/>
                </a:solidFill>
                <a:latin typeface="Segoe UI"/>
              </a:rPr>
              <a:t>—  </a:t>
            </a:r>
            <a:r>
              <a:rPr sz="1900" b="1">
                <a:solidFill>
                  <a:srgbClr val="E6EDF3"/>
                </a:solidFill>
                <a:latin typeface="Segoe UI"/>
              </a:rPr>
              <a:t>Dependência. </a:t>
            </a:r>
            <a:r>
              <a:rPr sz="1900" b="0">
                <a:solidFill>
                  <a:srgbClr val="9198A1"/>
                </a:solidFill>
                <a:latin typeface="Segoe UI"/>
              </a:rPr>
              <a:t>O agente da API precisa do modelo de domínio que o outro ainda está escrevendo. Ordem importa, e ninguém a declarou.</a:t>
            </a:r>
          </a:p>
          <a:p>
            <a:pPr algn="l">
              <a:lnSpc>
                <a:spcPct val="125000"/>
              </a:lnSpc>
              <a:spcAft>
                <a:spcPts val="1700"/>
              </a:spcAft>
            </a:pPr>
            <a:r>
              <a:rPr sz="1900" b="1">
                <a:solidFill>
                  <a:srgbClr val="58A6FF"/>
                </a:solidFill>
                <a:latin typeface="Segoe UI"/>
              </a:rPr>
              <a:t>—  </a:t>
            </a:r>
            <a:r>
              <a:rPr sz="1900" b="1">
                <a:solidFill>
                  <a:srgbClr val="E6EDF3"/>
                </a:solidFill>
                <a:latin typeface="Segoe UI"/>
              </a:rPr>
              <a:t>Verificação. </a:t>
            </a:r>
            <a:r>
              <a:rPr sz="1900" b="0">
                <a:solidFill>
                  <a:srgbClr val="9198A1"/>
                </a:solidFill>
                <a:latin typeface="Segoe UI"/>
              </a:rPr>
              <a:t>O agente diz que terminou. E daí? Quem verifica, e com que autoridade?</a:t>
            </a:r>
          </a:p>
          <a:p>
            <a:pPr algn="l">
              <a:lnSpc>
                <a:spcPct val="125000"/>
              </a:lnSpc>
              <a:spcAft>
                <a:spcPts val="1700"/>
              </a:spcAft>
            </a:pPr>
            <a:r>
              <a:rPr sz="1900" b="1">
                <a:solidFill>
                  <a:srgbClr val="58A6FF"/>
                </a:solidFill>
                <a:latin typeface="Segoe UI"/>
              </a:rPr>
              <a:t>—  </a:t>
            </a:r>
            <a:r>
              <a:rPr sz="1900" b="1">
                <a:solidFill>
                  <a:srgbClr val="E6EDF3"/>
                </a:solidFill>
                <a:latin typeface="Segoe UI"/>
              </a:rPr>
              <a:t>Escopo. </a:t>
            </a:r>
            <a:r>
              <a:rPr sz="1900" b="0">
                <a:solidFill>
                  <a:srgbClr val="9198A1"/>
                </a:solidFill>
                <a:latin typeface="Segoe UI"/>
              </a:rPr>
              <a:t>Um agente que 'aproveita e arruma' um arquivo vizinho quebra o PR de outro.</a:t>
            </a:r>
          </a:p>
          <a:p>
            <a:pPr algn="l">
              <a:lnSpc>
                <a:spcPct val="125000"/>
              </a:lnSpc>
              <a:spcAft>
                <a:spcPts val="1700"/>
              </a:spcAft>
            </a:pPr>
            <a:r>
              <a:rPr sz="1900" b="1">
                <a:solidFill>
                  <a:srgbClr val="58A6FF"/>
                </a:solidFill>
                <a:latin typeface="Segoe UI"/>
              </a:rPr>
              <a:t>—  </a:t>
            </a:r>
            <a:r>
              <a:rPr sz="1900" b="1">
                <a:solidFill>
                  <a:srgbClr val="E6EDF3"/>
                </a:solidFill>
                <a:latin typeface="Segoe UI"/>
              </a:rPr>
              <a:t>Responsabilidade. </a:t>
            </a:r>
            <a:r>
              <a:rPr sz="1900" b="0">
                <a:solidFill>
                  <a:srgbClr val="9198A1"/>
                </a:solidFill>
                <a:latin typeface="Segoe UI"/>
              </a:rPr>
              <a:t>Cinco PRs abertos por robôs. Quem responde pelo que entrou em produção?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5166360"/>
            <a:ext cx="10637215" cy="914400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2000" b="1">
                <a:solidFill>
                  <a:srgbClr val="E6EDF3"/>
                </a:solidFill>
                <a:latin typeface="Segoe UI"/>
              </a:rPr>
              <a:t>Nenhum desses problemas se resolve com um modelo melhor. </a:t>
            </a:r>
            <a:r>
              <a:rPr sz="2000" b="1">
                <a:solidFill>
                  <a:srgbClr val="58A6FF"/>
                </a:solidFill>
                <a:latin typeface="Segoe UI"/>
              </a:rPr>
              <a:t>Todos se resolvem com restrição.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291072"/>
            <a:ext cx="744605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Agent Squad · TDC São Paulo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5/35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A FÁBRICA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50392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6EDF3"/>
                </a:solidFill>
                <a:latin typeface="Segoe UI"/>
              </a:rPr>
              <a:t>O pipeline inteiro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63624"/>
            <a:ext cx="10637215" cy="15875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2267712"/>
            <a:ext cx="1217637" cy="16002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46304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>
                <a:solidFill>
                  <a:srgbClr val="58A6FF"/>
                </a:solidFill>
                <a:latin typeface="Segoe UI"/>
              </a:rPr>
              <a:t>INTAKE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9198A1"/>
                </a:solidFill>
                <a:latin typeface="Segoe UI"/>
              </a:rPr>
              <a:t>solução nova ou
feature existente?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004021" y="2962656"/>
            <a:ext cx="109728" cy="182880"/>
          </a:xfrm>
          <a:prstGeom prst="rightArrow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122893" y="2267712"/>
            <a:ext cx="1217637" cy="16002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46304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>
                <a:solidFill>
                  <a:srgbClr val="58A6FF"/>
                </a:solidFill>
                <a:latin typeface="Segoe UI"/>
              </a:rPr>
              <a:t>REQUISITOS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9198A1"/>
                </a:solidFill>
                <a:latin typeface="Segoe UI"/>
              </a:rPr>
              <a:t>verificáveis +
as ambiguidades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349675" y="2962656"/>
            <a:ext cx="109728" cy="182880"/>
          </a:xfrm>
          <a:prstGeom prst="rightArrow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468547" y="2267712"/>
            <a:ext cx="1217637" cy="16002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46304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>
                <a:solidFill>
                  <a:srgbClr val="58A6FF"/>
                </a:solidFill>
                <a:latin typeface="Segoe UI"/>
              </a:rPr>
              <a:t>PLANO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9198A1"/>
                </a:solidFill>
                <a:latin typeface="Segoe UI"/>
              </a:rPr>
              <a:t>work items,
dependências, ondas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695329" y="2962656"/>
            <a:ext cx="109728" cy="182880"/>
          </a:xfrm>
          <a:prstGeom prst="rightArrow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814201" y="2267712"/>
            <a:ext cx="1217637" cy="16002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D299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46304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>
                <a:solidFill>
                  <a:srgbClr val="D29922"/>
                </a:solidFill>
                <a:latin typeface="Segoe UI"/>
              </a:rPr>
              <a:t>APROVAÇÃO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9198A1"/>
                </a:solidFill>
                <a:latin typeface="Segoe UI"/>
              </a:rPr>
              <a:t>decisão
humana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6040983" y="2962656"/>
            <a:ext cx="109728" cy="182880"/>
          </a:xfrm>
          <a:prstGeom prst="rightArrow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159855" y="2267712"/>
            <a:ext cx="1217637" cy="16002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46304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>
                <a:solidFill>
                  <a:srgbClr val="58A6FF"/>
                </a:solidFill>
                <a:latin typeface="Segoe UI"/>
              </a:rPr>
              <a:t>ISSUES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9198A1"/>
                </a:solidFill>
                <a:latin typeface="Segoe UI"/>
              </a:rPr>
              <a:t>uma por
work item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386637" y="2962656"/>
            <a:ext cx="109728" cy="182880"/>
          </a:xfrm>
          <a:prstGeom prst="rightArrow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505509" y="2267712"/>
            <a:ext cx="1217637" cy="16002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B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46304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>
                <a:solidFill>
                  <a:srgbClr val="BC8CFF"/>
                </a:solidFill>
                <a:latin typeface="Segoe UI"/>
              </a:rPr>
              <a:t>AGENTES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9198A1"/>
                </a:solidFill>
                <a:latin typeface="Segoe UI"/>
              </a:rPr>
              <a:t>em paralelo,
um worktree cada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732291" y="2962656"/>
            <a:ext cx="109728" cy="182880"/>
          </a:xfrm>
          <a:prstGeom prst="rightArrow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851163" y="2267712"/>
            <a:ext cx="1217637" cy="16002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46304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>
                <a:solidFill>
                  <a:srgbClr val="3FB950"/>
                </a:solidFill>
                <a:latin typeface="Segoe UI"/>
              </a:rPr>
              <a:t>GATE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9198A1"/>
                </a:solidFill>
                <a:latin typeface="Segoe UI"/>
              </a:rPr>
              <a:t>format, build,
testes, segredos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10077945" y="2962656"/>
            <a:ext cx="109728" cy="182880"/>
          </a:xfrm>
          <a:prstGeom prst="rightArrow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0196817" y="2267712"/>
            <a:ext cx="1217637" cy="16002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D299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46304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>
                <a:solidFill>
                  <a:srgbClr val="D29922"/>
                </a:solidFill>
                <a:latin typeface="Segoe UI"/>
              </a:rPr>
              <a:t>PULL REQUEST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9198A1"/>
                </a:solidFill>
                <a:latin typeface="Segoe UI"/>
              </a:rPr>
              <a:t>merge é
humano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4279392"/>
            <a:ext cx="10637215" cy="960120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D299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/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900" b="1">
                <a:solidFill>
                  <a:srgbClr val="D29922"/>
                </a:solidFill>
                <a:latin typeface="Segoe UI"/>
              </a:rPr>
              <a:t>Dois portões humanos: </a:t>
            </a:r>
            <a:r>
              <a:rPr sz="1900" b="0">
                <a:solidFill>
                  <a:srgbClr val="E6EDF3"/>
                </a:solidFill>
                <a:latin typeface="Segoe UI"/>
              </a:rPr>
              <a:t>nada é escrito no GitHub antes da aprovação do plano, e </a:t>
            </a:r>
            <a:r>
              <a:rPr sz="1900" b="1">
                <a:solidFill>
                  <a:srgbClr val="E6EDF3"/>
                </a:solidFill>
                <a:latin typeface="Segoe UI"/>
              </a:rPr>
              <a:t>nenhum merge acontece sem uma pessoa.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0">
                <a:solidFill>
                  <a:srgbClr val="9198A1"/>
                </a:solidFill>
                <a:latin typeface="Segoe UI"/>
              </a:rPr>
              <a:t>Entre eles, a fábrica é autônoma — e cada ação irreversível passa por uma verificação determinística.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6291072"/>
            <a:ext cx="744605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Agent Squad · TDC São Paulo 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1717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6/35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A FÁBRICA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50392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6EDF3"/>
                </a:solidFill>
                <a:latin typeface="Segoe UI"/>
              </a:rPr>
              <a:t>O que está por baixo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63624"/>
            <a:ext cx="10637215" cy="15875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10512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E7681"/>
                </a:solidFill>
                <a:latin typeface="Segoe UI"/>
              </a:rPr>
              <a:t>Orquestração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1773936"/>
            <a:ext cx="83210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>
                <a:solidFill>
                  <a:srgbClr val="58A6FF"/>
                </a:solidFill>
                <a:latin typeface="Segoe UI"/>
              </a:rPr>
              <a:t>Microsoft Agent Framework 1.22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198A1"/>
                </a:solidFill>
                <a:latin typeface="Segoe UI"/>
              </a:rPr>
              <a:t>AIAgent, AgentSession, saída estruturada com schema, middleware, OpenTelemetry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E7681"/>
                </a:solidFill>
                <a:latin typeface="Segoe UI"/>
              </a:rPr>
              <a:t>Modelos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2578608"/>
            <a:ext cx="83210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>
                <a:solidFill>
                  <a:srgbClr val="58A6FF"/>
                </a:solidFill>
                <a:latin typeface="Segoe UI"/>
              </a:rPr>
              <a:t>Microsoft Foundry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198A1"/>
                </a:solidFill>
                <a:latin typeface="Segoe UI"/>
              </a:rPr>
              <a:t>Entra ID, sem nenhuma chave de API. disableLocalAuth no recurso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419856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E7681"/>
                </a:solidFill>
                <a:latin typeface="Segoe UI"/>
              </a:rPr>
              <a:t>Quem escreve código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46120" y="3383280"/>
            <a:ext cx="83210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>
                <a:solidFill>
                  <a:srgbClr val="BC8CFF"/>
                </a:solidFill>
                <a:latin typeface="Segoe UI"/>
              </a:rPr>
              <a:t>GitHub Copilot SDK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198A1"/>
                </a:solidFill>
                <a:latin typeface="Segoe UI"/>
              </a:rPr>
              <a:t>CopilotClient dirigido in-process, exposto como um AIAgent qualquer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224528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E7681"/>
                </a:solidFill>
                <a:latin typeface="Segoe UI"/>
              </a:rPr>
              <a:t>Isolamento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4187952"/>
            <a:ext cx="83210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>
                <a:solidFill>
                  <a:srgbClr val="3FB950"/>
                </a:solidFill>
                <a:latin typeface="Segoe UI"/>
              </a:rPr>
              <a:t>git worktree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198A1"/>
                </a:solidFill>
                <a:latin typeface="Segoe UI"/>
              </a:rPr>
              <a:t>Um por issue, com COPILOT_HOME próprio e artefatos fora da árvore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02920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E7681"/>
                </a:solidFill>
                <a:latin typeface="Segoe UI"/>
              </a:rPr>
              <a:t>Tarefas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46120" y="4992624"/>
            <a:ext cx="83210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>
                <a:solidFill>
                  <a:srgbClr val="58A6FF"/>
                </a:solidFill>
                <a:latin typeface="Segoe UI"/>
              </a:rPr>
              <a:t>GitHub Issues + PRs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198A1"/>
                </a:solidFill>
                <a:latin typeface="Segoe UI"/>
              </a:rPr>
              <a:t>gh CLI — todo comando é copiável pela plateia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833872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E7681"/>
                </a:solidFill>
                <a:latin typeface="Segoe UI"/>
              </a:rPr>
              <a:t>Apresentação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5797296"/>
            <a:ext cx="83210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>
                <a:solidFill>
                  <a:srgbClr val="9198A1"/>
                </a:solidFill>
                <a:latin typeface="Segoe UI"/>
              </a:rPr>
              <a:t>Console + Blazor + Aspire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198A1"/>
                </a:solidFill>
                <a:latin typeface="Segoe UI"/>
              </a:rPr>
              <a:t>Mesmo fluxo de eventos nos dois; o dashboard do Aspire mostra os spans GenAI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291072"/>
            <a:ext cx="744605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Agent Squad · TDC São Paulo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1717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7/35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A FÁBRICA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50392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6EDF3"/>
                </a:solidFill>
                <a:latin typeface="Segoe UI"/>
              </a:rPr>
              <a:t>Sete papéis, e só um escreve código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63624"/>
            <a:ext cx="10637215" cy="15875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1051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E6EDF3"/>
                </a:solidFill>
                <a:latin typeface="Segoe UI"/>
              </a:rPr>
              <a:t>Transcript Analyst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069080" y="1783080"/>
            <a:ext cx="763524" cy="310896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8A6FF"/>
                </a:solidFill>
                <a:latin typeface="Segoe UI"/>
              </a:rPr>
              <a:t>gpt-5.5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29400" y="18288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198A1"/>
                </a:solidFill>
                <a:latin typeface="Segoe UI"/>
              </a:rPr>
              <a:t>Decisões, requisitos e — o que importa — as pendências não resolvidas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7744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E6EDF3"/>
                </a:solidFill>
                <a:latin typeface="Segoe UI"/>
              </a:rPr>
              <a:t>Intake Analyst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69080" y="2350008"/>
            <a:ext cx="1152144" cy="310896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8A6FF"/>
                </a:solidFill>
                <a:latin typeface="Segoe UI"/>
              </a:rPr>
              <a:t>gpt-5.4-mini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395728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198A1"/>
                </a:solidFill>
                <a:latin typeface="Segoe UI"/>
              </a:rPr>
              <a:t>Greenfield ou brownfield? Lê o repositório antes de opinar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944368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E6EDF3"/>
                </a:solidFill>
                <a:latin typeface="Segoe UI"/>
              </a:rPr>
              <a:t>Requirements Analyst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069080" y="2916936"/>
            <a:ext cx="763524" cy="310896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8A6FF"/>
                </a:solidFill>
                <a:latin typeface="Segoe UI"/>
              </a:rPr>
              <a:t>gpt-5.5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2962656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198A1"/>
                </a:solidFill>
                <a:latin typeface="Segoe UI"/>
              </a:rPr>
              <a:t>Requisitos verificáveis + no máximo 5 perguntas ao humano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511296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E6EDF3"/>
                </a:solidFill>
                <a:latin typeface="Segoe UI"/>
              </a:rPr>
              <a:t>Architect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069080" y="3483864"/>
            <a:ext cx="763524" cy="310896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8A6FF"/>
                </a:solidFill>
                <a:latin typeface="Segoe UI"/>
              </a:rPr>
              <a:t>gpt-5.5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3529584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198A1"/>
                </a:solidFill>
                <a:latin typeface="Segoe UI"/>
              </a:rPr>
              <a:t>Work items, dependências, ondas de paralelismo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078224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E6EDF3"/>
                </a:solidFill>
                <a:latin typeface="Segoe UI"/>
              </a:rPr>
              <a:t>Plan Critic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069080" y="4050792"/>
            <a:ext cx="763524" cy="310896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8A6FF"/>
                </a:solidFill>
                <a:latin typeface="Segoe UI"/>
              </a:rPr>
              <a:t>gpt-5.5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4096512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198A1"/>
                </a:solidFill>
                <a:latin typeface="Segoe UI"/>
              </a:rPr>
              <a:t>Revisa o plano antes de qualquer issue existir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64515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E6EDF3"/>
                </a:solidFill>
                <a:latin typeface="Segoe UI"/>
              </a:rPr>
              <a:t>Code Reviewer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069080" y="4617720"/>
            <a:ext cx="1229868" cy="310896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8A6FF"/>
                </a:solidFill>
                <a:latin typeface="Segoe UI"/>
              </a:rPr>
              <a:t>gpt-5.3-codex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466344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198A1"/>
                </a:solidFill>
                <a:latin typeface="Segoe UI"/>
              </a:rPr>
              <a:t>Lê o diff citando o identificador da regra violada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5376672"/>
            <a:ext cx="10637215" cy="868680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B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800" b="1">
                <a:solidFill>
                  <a:srgbClr val="BC8CFF"/>
                </a:solidFill>
                <a:latin typeface="Segoe UI"/>
              </a:rPr>
              <a:t>Implementer</a:t>
            </a:r>
            <a:r>
              <a:rPr sz="1800" b="0">
                <a:solidFill>
                  <a:srgbClr val="6E7681"/>
                </a:solidFill>
                <a:latin typeface="Segoe UI"/>
              </a:rPr>
              <a:t>        </a:t>
            </a:r>
            <a:r>
              <a:rPr sz="1800" b="1">
                <a:solidFill>
                  <a:srgbClr val="BC8CFF"/>
                </a:solidFill>
                <a:latin typeface="Consolas"/>
              </a:rPr>
              <a:t>GitHub Copilot</a:t>
            </a:r>
            <a:r>
              <a:rPr sz="1800" b="0">
                <a:solidFill>
                  <a:srgbClr val="6E7681"/>
                </a:solidFill>
                <a:latin typeface="Segoe UI"/>
              </a:rPr>
              <a:t>        </a:t>
            </a:r>
            <a:r>
              <a:rPr sz="1800" b="0">
                <a:solidFill>
                  <a:srgbClr val="E6EDF3"/>
                </a:solidFill>
                <a:latin typeface="Segoe UI"/>
              </a:rPr>
              <a:t>Escreve o código, em worktree isolado. É o único que pode.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291072"/>
            <a:ext cx="744605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Agent Squad · TDC São Paulo 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1717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8/35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AS DUAS DECISÕES QUE SUSTENTAM TUDO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50392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6EDF3"/>
                </a:solidFill>
                <a:latin typeface="Segoe UI"/>
              </a:rPr>
              <a:t>Decisão 1 — quem tem autoridade para dizer 'está pronto'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63624"/>
            <a:ext cx="10637215" cy="15875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1810512"/>
            <a:ext cx="5090007" cy="210312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tIns="237744" rIns="22860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1">
                <a:solidFill>
                  <a:srgbClr val="F85149"/>
                </a:solidFill>
                <a:latin typeface="Segoe UI"/>
              </a:rPr>
              <a:t>O que não pode decidir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>
                <a:solidFill>
                  <a:srgbClr val="E6EDF3"/>
                </a:solidFill>
                <a:latin typeface="Segoe UI"/>
              </a:rPr>
              <a:t>"Implementei e testei, está tudo funcionando."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9198A1"/>
                </a:solidFill>
                <a:latin typeface="Segoe UI"/>
              </a:rPr>
              <a:t>É a opinião do agente sobre o próprio trabalho. Não é evidência.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24447" y="1810512"/>
            <a:ext cx="5090007" cy="210312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tIns="237744" rIns="22860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1">
                <a:solidFill>
                  <a:srgbClr val="3FB950"/>
                </a:solidFill>
                <a:latin typeface="Segoe UI"/>
              </a:rPr>
              <a:t>O que decide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E6EDF3"/>
                </a:solidFill>
                <a:latin typeface="Consolas"/>
              </a:rPr>
              <a:t>dotnet build -warnaserror  →  exit 0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0">
                <a:solidFill>
                  <a:srgbClr val="E6EDF3"/>
                </a:solidFill>
                <a:latin typeface="Consolas"/>
              </a:rPr>
              <a:t>dotnet test                →  exit 0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9198A1"/>
                </a:solidFill>
                <a:latin typeface="Segoe UI"/>
              </a:rPr>
              <a:t>Um programa, com a mesma resposta toda vez.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233672"/>
            <a:ext cx="10637215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700" b="0">
                <a:solidFill>
                  <a:srgbClr val="9198A1"/>
                </a:solidFill>
                <a:latin typeface="Segoe UI"/>
              </a:rPr>
              <a:t>O gate roda sete etapas, e todas têm que passar: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690872"/>
            <a:ext cx="763524" cy="310896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FB950"/>
                </a:solidFill>
                <a:latin typeface="Segoe UI"/>
              </a:rPr>
              <a:t>restore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687068" y="4690872"/>
            <a:ext cx="685800" cy="310896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FB950"/>
                </a:solidFill>
                <a:latin typeface="Segoe UI"/>
              </a:rPr>
              <a:t>format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19172" y="4690872"/>
            <a:ext cx="1618488" cy="310896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FB950"/>
                </a:solidFill>
                <a:latin typeface="Segoe UI"/>
              </a:rPr>
              <a:t>build -warnaserror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3964" y="4690872"/>
            <a:ext cx="685800" cy="310896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FB950"/>
                </a:solidFill>
                <a:latin typeface="Segoe UI"/>
              </a:rPr>
              <a:t>testes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16068" y="4690872"/>
            <a:ext cx="1463040" cy="310896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FB950"/>
                </a:solidFill>
                <a:latin typeface="Segoe UI"/>
              </a:rPr>
              <a:t>vulnerabilidades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25412" y="4690872"/>
            <a:ext cx="685800" cy="310896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FB950"/>
                </a:solidFill>
                <a:latin typeface="Segoe UI"/>
              </a:rPr>
              <a:t>escopo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57516" y="4690872"/>
            <a:ext cx="841248" cy="310896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FB950"/>
                </a:solidFill>
                <a:latin typeface="Segoe UI"/>
              </a:rPr>
              <a:t>segredos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5257800"/>
            <a:ext cx="10637215" cy="868680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800" b="1">
                <a:solidFill>
                  <a:srgbClr val="E6EDF3"/>
                </a:solidFill>
                <a:latin typeface="Segoe UI"/>
              </a:rPr>
              <a:t>Nenhum pull request é aberto sem isso. </a:t>
            </a:r>
            <a:r>
              <a:rPr sz="1800" b="0">
                <a:solidFill>
                  <a:srgbClr val="9198A1"/>
                </a:solidFill>
                <a:latin typeface="Segoe UI"/>
              </a:rPr>
              <a:t>Num sistema autônomo, a única coisa em que você pode confiar é no que um programa verificou.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291072"/>
            <a:ext cx="744605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Agent Squad · TDC São Paulo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1717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9/35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AS DUAS DECISÕES QUE SUSTENTAM TUDO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50392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6EDF3"/>
                </a:solidFill>
                <a:latin typeface="Segoe UI"/>
              </a:rPr>
              <a:t>Decisão 2 — a regra que faz o paralelismo funcionar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63624"/>
            <a:ext cx="10637215" cy="15875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1810512"/>
            <a:ext cx="10637215" cy="960120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Segoe UI"/>
              </a:rPr>
              <a:t>Dois work items da mesma onda nunca declaram o mesmo arquivo.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044952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9198A1"/>
                </a:solidFill>
                <a:latin typeface="Segoe UI"/>
              </a:rPr>
              <a:t>Quando dois itens querem o mesmo arquivo, existem exatamente três saídas honestas: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593592"/>
            <a:ext cx="3362858" cy="141732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01168" tIns="219456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58A6FF"/>
                </a:solidFill>
                <a:latin typeface="Segoe UI"/>
              </a:rPr>
              <a:t>1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2000" b="1">
                <a:solidFill>
                  <a:srgbClr val="E6EDF3"/>
                </a:solidFill>
                <a:latin typeface="Segoe UI"/>
              </a:rPr>
              <a:t>Sequenciar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198A1"/>
                </a:solidFill>
                <a:latin typeface="Segoe UI"/>
              </a:rPr>
              <a:t>mover um para uma onda posterior, com dependência declarada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14418" y="3593592"/>
            <a:ext cx="3362858" cy="141732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01168" tIns="219456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58A6FF"/>
                </a:solidFill>
                <a:latin typeface="Segoe UI"/>
              </a:rPr>
              <a:t>2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2000" b="1">
                <a:solidFill>
                  <a:srgbClr val="E6EDF3"/>
                </a:solidFill>
                <a:latin typeface="Segoe UI"/>
              </a:rPr>
              <a:t>Extrair uma costura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198A1"/>
                </a:solidFill>
                <a:latin typeface="Segoe UI"/>
              </a:rPr>
              <a:t>um item anterior cria a interface que permite trabalhar em paralelo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51596" y="3593592"/>
            <a:ext cx="3362858" cy="141732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01168" tIns="219456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58A6FF"/>
                </a:solidFill>
                <a:latin typeface="Segoe UI"/>
              </a:rPr>
              <a:t>3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2000" b="1">
                <a:solidFill>
                  <a:srgbClr val="E6EDF3"/>
                </a:solidFill>
                <a:latin typeface="Segoe UI"/>
              </a:rPr>
              <a:t>Fundir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198A1"/>
                </a:solidFill>
                <a:latin typeface="Segoe UI"/>
              </a:rPr>
              <a:t>se são pequenos e inseparáveis, são um item só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120640"/>
            <a:ext cx="10637215" cy="100584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/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900" b="0">
                <a:solidFill>
                  <a:srgbClr val="9198A1"/>
                </a:solidFill>
                <a:latin typeface="Segoe UI"/>
              </a:rPr>
              <a:t>E aqui está o pulo do gato: </a:t>
            </a:r>
            <a:r>
              <a:rPr sz="1900" b="1">
                <a:solidFill>
                  <a:srgbClr val="FFFFFF"/>
                </a:solidFill>
                <a:latin typeface="Segoe UI"/>
              </a:rPr>
              <a:t>essa regra é verificada por código, não confiada ao modelo.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>
                <a:solidFill>
                  <a:srgbClr val="3FB950"/>
                </a:solidFill>
                <a:latin typeface="Consolas"/>
              </a:rPr>
              <a:t>PlanValidator</a:t>
            </a:r>
            <a:r>
              <a:rPr sz="1500" b="0">
                <a:solidFill>
                  <a:srgbClr val="9198A1"/>
                </a:solidFill>
                <a:latin typeface="Segoe UI"/>
              </a:rPr>
              <a:t>  — 11 verificações determinísticas no plano que o modelo produziu, antes de qualquer issue existir.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291072"/>
            <a:ext cx="744605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Agent Squad · TDC São Paulo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1717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10/35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68580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1">
                <a:solidFill>
                  <a:srgbClr val="BC8CFF"/>
                </a:solidFill>
                <a:latin typeface="Segoe UI"/>
              </a:rPr>
              <a:t>DEMO 1</a:t>
            </a:r>
            <a:r>
              <a:rPr sz="1600" b="0">
                <a:solidFill>
                  <a:srgbClr val="6E7681"/>
                </a:solidFill>
                <a:latin typeface="Segoe UI"/>
              </a:rPr>
              <a:t>        3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143000"/>
            <a:ext cx="102412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4200" b="1">
                <a:solidFill>
                  <a:srgbClr val="FFFFFF"/>
                </a:solidFill>
                <a:latin typeface="Segoe UI"/>
              </a:rPr>
              <a:t>Pré-requisitos, com diagnóstico útil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9198A1"/>
                </a:solidFill>
                <a:latin typeface="Segoe UI"/>
              </a:rPr>
              <a:t>Nada de 'algo deu errado'. Cada item reprovado vem com o comando que corrige.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51560" y="2743200"/>
            <a:ext cx="10058400" cy="2560320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182880" tIns="182880" bIns="164592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58A6FF"/>
                </a:solidFill>
                <a:latin typeface="Consolas"/>
              </a:rPr>
              <a:t>&gt; squad doctor --probe-models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9198A1"/>
                </a:solidFill>
                <a:latin typeface="Consolas"/>
              </a:rPr>
              <a:t/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3FB950"/>
                </a:solidFill>
                <a:latin typeface="Consolas"/>
              </a:rPr>
              <a:t>  ✔  .NET SDK                   10.0.401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3FB950"/>
                </a:solidFill>
                <a:latin typeface="Consolas"/>
              </a:rPr>
              <a:t>  ✔  GitHub CLI                 2.101.0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F85149"/>
                </a:solidFill>
                <a:latin typeface="Consolas"/>
              </a:rPr>
              <a:t>  ✖  GitHub token scopes        'repo'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D29922"/>
                </a:solidFill>
                <a:latin typeface="Consolas"/>
              </a:rPr>
              <a:t>     → gh auth refresh -h github.com -s workflow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3FB950"/>
                </a:solidFill>
                <a:latin typeface="Consolas"/>
              </a:rPr>
              <a:t>  ✔  Microsoft Foundry          gpt-5.5 · 36946 ms · "Olá, TDC!"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507492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BC8CFF"/>
                </a:solidFill>
                <a:latin typeface="Segoe UI"/>
              </a:rPr>
              <a:t>O que apontar: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600" b="1">
                <a:solidFill>
                  <a:srgbClr val="BC8CFF"/>
                </a:solidFill>
                <a:latin typeface="Segoe UI"/>
              </a:rPr>
              <a:t>▸  </a:t>
            </a:r>
            <a:r>
              <a:rPr sz="1600" b="0">
                <a:solidFill>
                  <a:srgbClr val="E6EDF3"/>
                </a:solidFill>
                <a:latin typeface="Segoe UI"/>
              </a:rPr>
              <a:t>O doctor faz uma chamada REAL a cada modelo — não só testa configuração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600" b="1">
                <a:solidFill>
                  <a:srgbClr val="BC8CFF"/>
                </a:solidFill>
                <a:latin typeface="Segoe UI"/>
              </a:rPr>
              <a:t>▸  </a:t>
            </a:r>
            <a:r>
              <a:rPr sz="1600" b="0">
                <a:solidFill>
                  <a:srgbClr val="E6EDF3"/>
                </a:solidFill>
                <a:latin typeface="Segoe UI"/>
              </a:rPr>
              <a:t>Cada falha traz o comando exato, não uma mensagem genérica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PERSONALIZAÇÃO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50392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6EDF3"/>
                </a:solidFill>
                <a:latin typeface="Segoe UI"/>
              </a:rPr>
              <a:t>As regras da empresa não vivem num prompt escondido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63624"/>
            <a:ext cx="10637215" cy="15875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1051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58A6FF"/>
                </a:solidFill>
                <a:latin typeface="Consolas"/>
              </a:rPr>
              <a:t>AGENTS.md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32120" y="1828800"/>
            <a:ext cx="6035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198A1"/>
                </a:solidFill>
                <a:latin typeface="Segoe UI"/>
              </a:rPr>
              <a:t>contrato de trabalho — lido pelo Copilot CLI e injetado no prompt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35915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58A6FF"/>
                </a:solidFill>
                <a:latin typeface="Consolas"/>
              </a:rPr>
              <a:t>docs/engineering-rules.md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32120" y="2377440"/>
            <a:ext cx="6035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198A1"/>
                </a:solidFill>
                <a:latin typeface="Segoe UI"/>
              </a:rPr>
              <a:t>as regras, com identificador estável: ENG-042, SEC-004, TST-004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90779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9198A1"/>
                </a:solidFill>
                <a:latin typeface="Consolas"/>
              </a:rPr>
              <a:t>.github/copilot-instructions.md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32120" y="2926080"/>
            <a:ext cx="6035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198A1"/>
                </a:solidFill>
                <a:latin typeface="Segoe UI"/>
              </a:rPr>
              <a:t>instruções do repositório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45643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9198A1"/>
                </a:solidFill>
                <a:latin typeface="Consolas"/>
              </a:rPr>
              <a:t>.github/instructions/*.md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32120" y="3474720"/>
            <a:ext cx="6035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198A1"/>
                </a:solidFill>
                <a:latin typeface="Segoe UI"/>
              </a:rPr>
              <a:t>instruções por caminho de arquivo, aplicadas automaticamente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00507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BC8CFF"/>
                </a:solidFill>
                <a:latin typeface="Consolas"/>
              </a:rPr>
              <a:t>.github/agents/*.md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32120" y="4023360"/>
            <a:ext cx="6035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198A1"/>
                </a:solidFill>
                <a:latin typeface="Segoe UI"/>
              </a:rPr>
              <a:t>agentes customizados: implementer, planner, reviewer, test-author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55371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BC8CFF"/>
                </a:solidFill>
                <a:latin typeface="Consolas"/>
              </a:rPr>
              <a:t>.github/skills/&lt;nome&gt;/SKILL.md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32120" y="4572000"/>
            <a:ext cx="6035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198A1"/>
                </a:solidFill>
                <a:latin typeface="Segoe UI"/>
              </a:rPr>
              <a:t>habilidades reutilizáveis, carregadas sob demanda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5285232"/>
            <a:ext cx="10637215" cy="1188720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219456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Tudo isso é arquivo versionado, revisável em pull request.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0">
                <a:solidFill>
                  <a:srgbClr val="9198A1"/>
                </a:solidFill>
                <a:latin typeface="Segoe UI"/>
              </a:rPr>
              <a:t>Para adaptar à sua empresa você edita dois arquivos. </a:t>
            </a:r>
            <a:r>
              <a:rPr sz="1600" b="1">
                <a:solidFill>
                  <a:srgbClr val="E6EDF3"/>
                </a:solidFill>
                <a:latin typeface="Segoe UI"/>
              </a:rPr>
              <a:t>Nenhuma linha de C#.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291072"/>
            <a:ext cx="744605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Agent Squad · TDC São Paulo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1717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12/35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PERSONALIZAÇÃO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50392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6EDF3"/>
                </a:solidFill>
                <a:latin typeface="Segoe UI"/>
              </a:rPr>
              <a:t>Uma regra que ninguém aplica é um comentário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63624"/>
            <a:ext cx="10637215" cy="15875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10512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8A6FF"/>
                </a:solidFill>
                <a:latin typeface="Consolas"/>
              </a:rPr>
              <a:t>.editorconfig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754879" y="1892808"/>
            <a:ext cx="274320" cy="109728"/>
          </a:xfrm>
          <a:prstGeom prst="rightArrow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12080" y="1810512"/>
            <a:ext cx="6309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E6EDF3"/>
                </a:solidFill>
                <a:latin typeface="Segoe UI"/>
              </a:rPr>
              <a:t>dotnet format --verify-no-changes reprova o PR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231136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8A6FF"/>
                </a:solidFill>
                <a:latin typeface="Consolas"/>
              </a:rPr>
              <a:t>Directory.Build.props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754879" y="2313432"/>
            <a:ext cx="274320" cy="109728"/>
          </a:xfrm>
          <a:prstGeom prst="rightArrow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12080" y="2231136"/>
            <a:ext cx="6309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E6EDF3"/>
                </a:solidFill>
                <a:latin typeface="Segoe UI"/>
              </a:rPr>
              <a:t>TreatWarningsAsErrors + analisadores como erro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651760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8A6FF"/>
                </a:solidFill>
                <a:latin typeface="Consolas"/>
              </a:rPr>
              <a:t>.editorconfig (CA5xxx)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754879" y="2734056"/>
            <a:ext cx="274320" cy="109728"/>
          </a:xfrm>
          <a:prstGeom prst="rightArrow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12080" y="2651760"/>
            <a:ext cx="6309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E6EDF3"/>
                </a:solidFill>
                <a:latin typeface="Segoe UI"/>
              </a:rPr>
              <a:t>toda regra de segurança do .NET escalada para error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072384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8A6FF"/>
                </a:solidFill>
                <a:latin typeface="Consolas"/>
              </a:rPr>
              <a:t>Directory.Packages.props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754879" y="3154680"/>
            <a:ext cx="274320" cy="109728"/>
          </a:xfrm>
          <a:prstGeom prst="rightArrow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12080" y="3072384"/>
            <a:ext cx="6309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E6EDF3"/>
                </a:solidFill>
                <a:latin typeface="Segoe UI"/>
              </a:rPr>
              <a:t>Central Package Management: nenhuma versão solta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3493008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8A6FF"/>
                </a:solidFill>
                <a:latin typeface="Consolas"/>
              </a:rPr>
              <a:t>engineering-rules.md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4754879" y="3575304"/>
            <a:ext cx="274320" cy="109728"/>
          </a:xfrm>
          <a:prstGeom prst="rightArrow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12080" y="3493008"/>
            <a:ext cx="6309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E6EDF3"/>
                </a:solidFill>
                <a:latin typeface="Segoe UI"/>
              </a:rPr>
              <a:t>citada por identificador em cada apontamento bloqueante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3913632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8A6FF"/>
                </a:solidFill>
                <a:latin typeface="Consolas"/>
              </a:rPr>
              <a:t>AGENTS.md §3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4754879" y="3995928"/>
            <a:ext cx="274320" cy="109728"/>
          </a:xfrm>
          <a:prstGeom prst="rightArrow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12080" y="3913632"/>
            <a:ext cx="6309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E6EDF3"/>
                </a:solidFill>
                <a:latin typeface="Segoe UI"/>
              </a:rPr>
              <a:t>regras invioláveis — o agente é instruído a recusar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4334256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8A6FF"/>
                </a:solidFill>
                <a:latin typeface="Consolas"/>
              </a:rPr>
              <a:t>CopilotOptions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4754879" y="4416552"/>
            <a:ext cx="274320" cy="109728"/>
          </a:xfrm>
          <a:prstGeom prst="rightArrow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212080" y="4334256"/>
            <a:ext cx="6309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E6EDF3"/>
                </a:solidFill>
                <a:latin typeface="Segoe UI"/>
              </a:rPr>
              <a:t>a política de permissões impede tecnicamente, não pede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4919472"/>
            <a:ext cx="10637215" cy="1417320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182880" tIns="182880" bIns="164592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F85149"/>
                </a:solidFill>
                <a:latin typeface="Consolas"/>
              </a:rPr>
              <a:t>"rule": "SEC-004",   "severity": "blocking",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E6EDF3"/>
                </a:solidFill>
                <a:latin typeface="Consolas"/>
              </a:rPr>
              <a:t>"file": "src/Tools/Git/GitCli.cs",   "line": 88,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9198A1"/>
                </a:solidFill>
                <a:latin typeface="Consolas"/>
              </a:rPr>
              <a:t>"finding": "ProcessStartInfo.Arguments montado por concatenação...",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3FB950"/>
                </a:solidFill>
                <a:latin typeface="Consolas"/>
              </a:rPr>
              <a:t>"fix": "Trocar para ArgumentList.Add(...) por argumento."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6291072"/>
            <a:ext cx="744605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Agent Squad · TDC São Paulo 2026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1717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13/35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68580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1">
                <a:solidFill>
                  <a:srgbClr val="BC8CFF"/>
                </a:solidFill>
                <a:latin typeface="Segoe UI"/>
              </a:rPr>
              <a:t>DEMO 2</a:t>
            </a:r>
            <a:r>
              <a:rPr sz="1600" b="0">
                <a:solidFill>
                  <a:srgbClr val="6E7681"/>
                </a:solidFill>
                <a:latin typeface="Segoe UI"/>
              </a:rPr>
              <a:t>        7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143000"/>
            <a:ext cx="102412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4200" b="1">
                <a:solidFill>
                  <a:srgbClr val="FFFFFF"/>
                </a:solidFill>
                <a:latin typeface="Segoe UI"/>
              </a:rPr>
              <a:t>Da reunião ao requisito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9198A1"/>
                </a:solidFill>
                <a:latin typeface="Segoe UI"/>
              </a:rPr>
              <a:t>A transcrição de uma reunião de levantamento, com as patologias de uma reunião real.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51560" y="2743200"/>
            <a:ext cx="10058400" cy="1938528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182880" tIns="182880" bIns="164592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58A6FF"/>
                </a:solidFill>
                <a:latin typeface="Consolas"/>
              </a:rPr>
              <a:t>&gt; squad run --transcript samples/meeting-transcripts/kickoff-catalogo.md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9198A1"/>
                </a:solidFill>
                <a:latin typeface="Consolas"/>
              </a:rPr>
              <a:t/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BC8CFF"/>
                </a:solidFill>
                <a:latin typeface="Consolas"/>
              </a:rPr>
              <a:t>  ◆ transcript-analyst   5 decisões · 3 pendências · 1 suposição não compartilhada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BC8CFF"/>
                </a:solidFill>
                <a:latin typeface="Consolas"/>
              </a:rPr>
              <a:t>  ◆ requirements-analyst 21 requisitos, 7 suposições declaradas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D29922"/>
                </a:solidFill>
                <a:latin typeface="Consolas"/>
              </a:rPr>
              <a:t>  ◆ requirements-analyst 4 perguntas para o humano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507492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BC8CFF"/>
                </a:solidFill>
                <a:latin typeface="Segoe UI"/>
              </a:rPr>
              <a:t>O que apontar: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600" b="1">
                <a:solidFill>
                  <a:srgbClr val="BC8CFF"/>
                </a:solidFill>
                <a:latin typeface="Segoe UI"/>
              </a:rPr>
              <a:t>▸  </a:t>
            </a:r>
            <a:r>
              <a:rPr sz="1600" b="0">
                <a:solidFill>
                  <a:srgbClr val="E6EDF3"/>
                </a:solidFill>
                <a:latin typeface="Segoe UI"/>
              </a:rPr>
              <a:t>O teste de fogo: o agente lista o p95 como PENDÊNCIA, ou registra como requisito?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600" b="1">
                <a:solidFill>
                  <a:srgbClr val="BC8CFF"/>
                </a:solidFill>
                <a:latin typeface="Segoe UI"/>
              </a:rPr>
              <a:t>▸  </a:t>
            </a:r>
            <a:r>
              <a:rPr sz="1600" b="0">
                <a:solidFill>
                  <a:srgbClr val="E6EDF3"/>
                </a:solidFill>
                <a:latin typeface="Segoe UI"/>
              </a:rPr>
              <a:t>O gabarito está no fim do próprio arquivo da transcrição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DA REUNIÃO AO REQUISITO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50392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6EDF3"/>
                </a:solidFill>
                <a:latin typeface="Segoe UI"/>
              </a:rPr>
              <a:t>O valor não é resumir a reunião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63624"/>
            <a:ext cx="10637215" cy="15875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1810512"/>
            <a:ext cx="10637215" cy="1316736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182880" tIns="182880" bIns="164592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>
                <a:solidFill>
                  <a:srgbClr val="E6EDF3"/>
                </a:solidFill>
                <a:latin typeface="Consolas"/>
              </a:rPr>
              <a:t>[03:10] Juliana:  Dá pra trabalhar com p95 abaixo de 300 ms?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>
                <a:solidFill>
                  <a:srgbClr val="E6EDF3"/>
                </a:solidFill>
                <a:latin typeface="Consolas"/>
              </a:rPr>
              <a:t>[03:20] Renata:   Se for isso eu assino embaixo.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>
                <a:solidFill>
                  <a:srgbClr val="D29922"/>
                </a:solidFill>
                <a:latin typeface="Consolas"/>
              </a:rPr>
              <a:t>[03:24] Caio:     Anota como meta, não como SLA.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502152"/>
            <a:ext cx="5090007" cy="20574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19456" rIns="219456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F85149"/>
                </a:solidFill>
                <a:latin typeface="Segoe UI"/>
              </a:rPr>
              <a:t>O que um resumo comum produz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E6EDF3"/>
                </a:solidFill>
                <a:latin typeface="Consolas"/>
              </a:rPr>
              <a:t>RNF-03: p95 &lt; 300 ms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9198A1"/>
                </a:solidFill>
                <a:latin typeface="Segoe UI"/>
              </a:rPr>
              <a:t>Requisito acordado. Vai para o plano, vira critério de aceite, alguém implementa.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85149"/>
                </a:solidFill>
                <a:latin typeface="Segoe UI"/>
              </a:rPr>
              <a:t>E está errado.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24447" y="3502152"/>
            <a:ext cx="5090007" cy="20574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19456" rIns="219456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3FB950"/>
                </a:solidFill>
                <a:latin typeface="Segoe UI"/>
              </a:rPr>
              <a:t>O que o analista precisa produzir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E6EDF3"/>
                </a:solidFill>
                <a:latin typeface="Consolas"/>
              </a:rPr>
              <a:t>PENDÊNCIA não resolvida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9198A1"/>
                </a:solidFill>
                <a:latin typeface="Segoe UI"/>
              </a:rPr>
              <a:t>Três pessoas, dois entendimentos, zero reconciliação. Todo mundo saiu da sala achando que estava combinado.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5623560"/>
            <a:ext cx="10637215" cy="731520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FFFFFF"/>
                </a:solidFill>
                <a:latin typeface="Segoe UI"/>
              </a:rPr>
              <a:t>Separar o que foi decidido do que só pareceu decidido.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291072"/>
            <a:ext cx="744605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Agent Squad · TDC São Paulo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1717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15/35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HUMAN-IN-THE-LOOP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50392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6EDF3"/>
                </a:solidFill>
                <a:latin typeface="Segoe UI"/>
              </a:rPr>
              <a:t>Perguntar bem é mais difícil que responder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63624"/>
            <a:ext cx="10637215" cy="15875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1810512"/>
            <a:ext cx="5090007" cy="237744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19456" rIns="219456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>
                <a:solidFill>
                  <a:srgbClr val="F85149"/>
                </a:solidFill>
                <a:latin typeface="Segoe UI"/>
              </a:rPr>
              <a:t>Pergunta inútil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>
                <a:solidFill>
                  <a:srgbClr val="E6EDF3"/>
                </a:solidFill>
                <a:latin typeface="Segoe UI"/>
              </a:rPr>
              <a:t>"Qual estratégia de cache você prefere?"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9198A1"/>
                </a:solidFill>
                <a:latin typeface="Segoe UI"/>
              </a:rPr>
              <a:t>Aberta. Quem responde precisa já saber a resposta — e se soubesse, não precisaria do agente.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24447" y="1810512"/>
            <a:ext cx="5090007" cy="237744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19456" rIns="219456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>
                <a:solidFill>
                  <a:srgbClr val="3FB950"/>
                </a:solidFill>
                <a:latin typeface="Segoe UI"/>
              </a:rPr>
              <a:t>Pergunta útil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0">
                <a:solidFill>
                  <a:srgbClr val="E6EDF3"/>
                </a:solidFill>
                <a:latin typeface="Segoe UI"/>
              </a:rPr>
              <a:t>"Os pedidos precisam sobreviver a uma queda antes da confirmação?"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1">
                <a:solidFill>
                  <a:srgbClr val="3FB950"/>
                </a:solidFill>
                <a:latin typeface="Segoe UI"/>
              </a:rPr>
              <a:t>Sim </a:t>
            </a:r>
            <a:r>
              <a:rPr sz="1400" b="0">
                <a:solidFill>
                  <a:srgbClr val="9198A1"/>
                </a:solidFill>
                <a:latin typeface="Segoe UI"/>
              </a:rPr>
              <a:t>→ outbox + fila, +3 issues, +1 dia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1">
                <a:solidFill>
                  <a:srgbClr val="3FB950"/>
                </a:solidFill>
                <a:latin typeface="Segoe UI"/>
              </a:rPr>
              <a:t>Não </a:t>
            </a:r>
            <a:r>
              <a:rPr sz="1400" b="0">
                <a:solidFill>
                  <a:srgbClr val="9198A1"/>
                </a:solidFill>
                <a:latin typeface="Segoe UI"/>
              </a:rPr>
              <a:t>→ chamada síncrona, plano menor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507992"/>
            <a:ext cx="10637215" cy="1527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100"/>
              </a:spcAft>
            </a:pPr>
            <a:r>
              <a:rPr sz="1600" b="1">
                <a:solidFill>
                  <a:srgbClr val="58A6FF"/>
                </a:solidFill>
                <a:latin typeface="Segoe UI"/>
              </a:rPr>
              <a:t>—  </a:t>
            </a:r>
            <a:r>
              <a:rPr sz="1600" b="1">
                <a:solidFill>
                  <a:srgbClr val="E6EDF3"/>
                </a:solidFill>
                <a:latin typeface="Segoe UI"/>
              </a:rPr>
              <a:t>No máximo 5 por rodada. </a:t>
            </a:r>
            <a:r>
              <a:rPr sz="1600" b="0">
                <a:solidFill>
                  <a:srgbClr val="9198A1"/>
                </a:solidFill>
                <a:latin typeface="Segoe UI"/>
              </a:rPr>
              <a:t>A paciência de quem responde é finita — numa palestra, mais ainda.</a:t>
            </a:r>
          </a:p>
          <a:p>
            <a:pPr algn="l">
              <a:lnSpc>
                <a:spcPct val="125000"/>
              </a:lnSpc>
              <a:spcAft>
                <a:spcPts val="1100"/>
              </a:spcAft>
            </a:pPr>
            <a:r>
              <a:rPr sz="1600" b="1">
                <a:solidFill>
                  <a:srgbClr val="58A6FF"/>
                </a:solidFill>
                <a:latin typeface="Segoe UI"/>
              </a:rPr>
              <a:t>—  </a:t>
            </a:r>
            <a:r>
              <a:rPr sz="1600" b="1">
                <a:solidFill>
                  <a:srgbClr val="E6EDF3"/>
                </a:solidFill>
                <a:latin typeface="Segoe UI"/>
              </a:rPr>
              <a:t>Cada opção mostra o impacto no plano. </a:t>
            </a:r>
            <a:r>
              <a:rPr sz="1600" b="0">
                <a:solidFill>
                  <a:srgbClr val="9198A1"/>
                </a:solidFill>
                <a:latin typeface="Segoe UI"/>
              </a:rPr>
              <a:t>A escolha é entre consequências, não entre rótulos.</a:t>
            </a:r>
          </a:p>
          <a:p>
            <a:pPr algn="l">
              <a:lnSpc>
                <a:spcPct val="125000"/>
              </a:lnSpc>
              <a:spcAft>
                <a:spcPts val="1100"/>
              </a:spcAft>
            </a:pPr>
            <a:r>
              <a:rPr sz="1600" b="1">
                <a:solidFill>
                  <a:srgbClr val="58A6FF"/>
                </a:solidFill>
                <a:latin typeface="Segoe UI"/>
              </a:rPr>
              <a:t>—  </a:t>
            </a:r>
            <a:r>
              <a:rPr sz="1600" b="1">
                <a:solidFill>
                  <a:srgbClr val="E6EDF3"/>
                </a:solidFill>
                <a:latin typeface="Segoe UI"/>
              </a:rPr>
              <a:t>Toda pergunta tem um padrão declarado. </a:t>
            </a:r>
            <a:r>
              <a:rPr sz="1600" b="0">
                <a:solidFill>
                  <a:srgbClr val="9198A1"/>
                </a:solidFill>
                <a:latin typeface="Segoe UI"/>
              </a:rPr>
              <a:t>O sistema tem que poder seguir sozinho.</a:t>
            </a:r>
          </a:p>
          <a:p>
            <a:pPr algn="l">
              <a:lnSpc>
                <a:spcPct val="125000"/>
              </a:lnSpc>
              <a:spcAft>
                <a:spcPts val="1100"/>
              </a:spcAft>
            </a:pPr>
            <a:r>
              <a:rPr sz="1600" b="1">
                <a:solidFill>
                  <a:srgbClr val="58A6FF"/>
                </a:solidFill>
                <a:latin typeface="Segoe UI"/>
              </a:rPr>
              <a:t>—  </a:t>
            </a:r>
            <a:r>
              <a:rPr sz="1600" b="1">
                <a:solidFill>
                  <a:srgbClr val="E6EDF3"/>
                </a:solidFill>
                <a:latin typeface="Segoe UI"/>
              </a:rPr>
              <a:t>Só pergunta o que muda o plano. </a:t>
            </a:r>
            <a:r>
              <a:rPr sz="1600" b="0">
                <a:solidFill>
                  <a:srgbClr val="9198A1"/>
                </a:solidFill>
                <a:latin typeface="Segoe UI"/>
              </a:rPr>
              <a:t>Se dá para decidir sozinho, decide — e registra como suposição contestável.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291072"/>
            <a:ext cx="744605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Agent Squad · TDC São Paulo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1717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16/35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PLANO E PARALELISMO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50392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6EDF3"/>
                </a:solidFill>
                <a:latin typeface="Segoe UI"/>
              </a:rPr>
              <a:t>Dois revisores de plano, com autoridades diferentes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63624"/>
            <a:ext cx="10637215" cy="15875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1810512"/>
            <a:ext cx="5090007" cy="301752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tIns="237744" rIns="237744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3FB950"/>
                </a:solidFill>
                <a:latin typeface="Segoe UI"/>
              </a:rPr>
              <a:t>VALIDADOR DETERMINÍSTICO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200"/>
              </a:spcAft>
            </a:pPr>
            <a:r>
              <a:rPr sz="2400" b="1">
                <a:solidFill>
                  <a:srgbClr val="FFFFFF"/>
                </a:solidFill>
                <a:latin typeface="Segoe UI"/>
              </a:rPr>
              <a:t>É o portão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9198A1"/>
                </a:solidFill>
                <a:latin typeface="Segoe UI"/>
              </a:rPr>
              <a:t>11 verificações com resposta certa: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0">
                <a:solidFill>
                  <a:srgbClr val="3FB950"/>
                </a:solidFill>
                <a:latin typeface="Segoe UI"/>
              </a:rPr>
              <a:t>·  </a:t>
            </a:r>
            <a:r>
              <a:rPr sz="1400" b="0">
                <a:solidFill>
                  <a:srgbClr val="E6EDF3"/>
                </a:solidFill>
                <a:latin typeface="Segoe UI"/>
              </a:rPr>
              <a:t>conflito de arquivo na mesma onda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0">
                <a:solidFill>
                  <a:srgbClr val="3FB950"/>
                </a:solidFill>
                <a:latin typeface="Segoe UI"/>
              </a:rPr>
              <a:t>·  </a:t>
            </a:r>
            <a:r>
              <a:rPr sz="1400" b="0">
                <a:solidFill>
                  <a:srgbClr val="E6EDF3"/>
                </a:solidFill>
                <a:latin typeface="Segoe UI"/>
              </a:rPr>
              <a:t>dependência em onda posterior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0">
                <a:solidFill>
                  <a:srgbClr val="3FB950"/>
                </a:solidFill>
                <a:latin typeface="Segoe UI"/>
              </a:rPr>
              <a:t>·  </a:t>
            </a:r>
            <a:r>
              <a:rPr sz="1400" b="0">
                <a:solidFill>
                  <a:srgbClr val="E6EDF3"/>
                </a:solidFill>
                <a:latin typeface="Segoe UI"/>
              </a:rPr>
              <a:t>ciclo no grafo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0">
                <a:solidFill>
                  <a:srgbClr val="3FB950"/>
                </a:solidFill>
                <a:latin typeface="Segoe UI"/>
              </a:rPr>
              <a:t>·  </a:t>
            </a:r>
            <a:r>
              <a:rPr sz="1400" b="0">
                <a:solidFill>
                  <a:srgbClr val="E6EDF3"/>
                </a:solidFill>
                <a:latin typeface="Segoe UI"/>
              </a:rPr>
              <a:t>item grande demais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0">
                <a:solidFill>
                  <a:srgbClr val="3FB950"/>
                </a:solidFill>
                <a:latin typeface="Segoe UI"/>
              </a:rPr>
              <a:t>·  </a:t>
            </a:r>
            <a:r>
              <a:rPr sz="1400" b="0">
                <a:solidFill>
                  <a:srgbClr val="E6EDF3"/>
                </a:solidFill>
                <a:latin typeface="Segoe UI"/>
              </a:rPr>
              <a:t>critério de aceite ausente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0">
                <a:solidFill>
                  <a:srgbClr val="3FB950"/>
                </a:solidFill>
                <a:latin typeface="Segoe UI"/>
              </a:rPr>
              <a:t>·  </a:t>
            </a:r>
            <a:r>
              <a:rPr sz="1400" b="0">
                <a:solidFill>
                  <a:srgbClr val="E6EDF3"/>
                </a:solidFill>
                <a:latin typeface="Segoe UI"/>
              </a:rPr>
              <a:t>requisito sem cobertura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24447" y="1810512"/>
            <a:ext cx="5090007" cy="301752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D299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tIns="237744" rIns="237744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D29922"/>
                </a:solidFill>
                <a:latin typeface="Segoe UI"/>
              </a:rPr>
              <a:t>AGENTE CRÍTICO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200"/>
              </a:spcAft>
            </a:pPr>
            <a:r>
              <a:rPr sz="2400" b="1">
                <a:solidFill>
                  <a:srgbClr val="FFFFFF"/>
                </a:solidFill>
                <a:latin typeface="Segoe UI"/>
              </a:rPr>
              <a:t>É conselho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9198A1"/>
                </a:solidFill>
                <a:latin typeface="Segoe UI"/>
              </a:rPr>
              <a:t>Procura o que um programa não vê: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0">
                <a:solidFill>
                  <a:srgbClr val="D29922"/>
                </a:solidFill>
                <a:latin typeface="Segoe UI"/>
              </a:rPr>
              <a:t>·  </a:t>
            </a:r>
            <a:r>
              <a:rPr sz="1400" b="0">
                <a:solidFill>
                  <a:srgbClr val="E6EDF3"/>
                </a:solidFill>
                <a:latin typeface="Segoe UI"/>
              </a:rPr>
              <a:t>acoplamento escondido entre itens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0">
                <a:solidFill>
                  <a:srgbClr val="D29922"/>
                </a:solidFill>
                <a:latin typeface="Segoe UI"/>
              </a:rPr>
              <a:t>·  </a:t>
            </a:r>
            <a:r>
              <a:rPr sz="1400" b="0">
                <a:solidFill>
                  <a:srgbClr val="E6EDF3"/>
                </a:solidFill>
                <a:latin typeface="Segoe UI"/>
              </a:rPr>
              <a:t>critério que nenhum teste resolve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0">
                <a:solidFill>
                  <a:srgbClr val="D29922"/>
                </a:solidFill>
                <a:latin typeface="Segoe UI"/>
              </a:rPr>
              <a:t>·  </a:t>
            </a:r>
            <a:r>
              <a:rPr sz="1400" b="0">
                <a:solidFill>
                  <a:srgbClr val="E6EDF3"/>
                </a:solidFill>
                <a:latin typeface="Segoe UI"/>
              </a:rPr>
              <a:t>trabalho transversal esquecido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0">
                <a:solidFill>
                  <a:srgbClr val="D29922"/>
                </a:solidFill>
                <a:latin typeface="Segoe UI"/>
              </a:rPr>
              <a:t>·  </a:t>
            </a:r>
            <a:r>
              <a:rPr sz="1400" b="0">
                <a:solidFill>
                  <a:srgbClr val="E6EDF3"/>
                </a:solidFill>
                <a:latin typeface="Segoe UI"/>
              </a:rPr>
              <a:t>escopo que cresceu sozinho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5166360"/>
            <a:ext cx="10637215" cy="960120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/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800" b="1">
                <a:solidFill>
                  <a:srgbClr val="D29922"/>
                </a:solidFill>
                <a:latin typeface="Segoe UI"/>
              </a:rPr>
              <a:t>Em três execuções o crítico nunca aprovou. </a:t>
            </a:r>
            <a:r>
              <a:rPr sz="1800" b="0">
                <a:solidFill>
                  <a:srgbClr val="E6EDF3"/>
                </a:solidFill>
                <a:latin typeface="Segoe UI"/>
              </a:rPr>
              <a:t>Um modelo revisor sempre acha mais uma coisa a dizer.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9198A1"/>
                </a:solidFill>
                <a:latin typeface="Segoe UI"/>
              </a:rPr>
              <a:t>A correção foi hierárquica, não de prompt: validador limpo + uma rodada de crítica bastam, e o resto vai para o humano. 8,0 min → 5,9 min.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291072"/>
            <a:ext cx="744605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Agent Squad · TDC São Paulo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1717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17/35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68580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1">
                <a:solidFill>
                  <a:srgbClr val="BC8CFF"/>
                </a:solidFill>
                <a:latin typeface="Segoe UI"/>
              </a:rPr>
              <a:t>DEMO 3</a:t>
            </a:r>
            <a:r>
              <a:rPr sz="1600" b="0">
                <a:solidFill>
                  <a:srgbClr val="6E7681"/>
                </a:solidFill>
                <a:latin typeface="Segoe UI"/>
              </a:rPr>
              <a:t>        8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143000"/>
            <a:ext cx="102412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4200" b="1">
                <a:solidFill>
                  <a:srgbClr val="FFFFFF"/>
                </a:solidFill>
                <a:latin typeface="Segoe UI"/>
              </a:rPr>
              <a:t>Cinco agentes, três ondas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9198A1"/>
                </a:solidFill>
                <a:latin typeface="Segoe UI"/>
              </a:rPr>
              <a:t>Cada um em seu worktree, com o gate determinístico decidindo no fim de cada um.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51560" y="2743200"/>
            <a:ext cx="10058400" cy="2249424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182880" tIns="182880" bIns="164592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58A6FF"/>
                </a:solidFill>
                <a:latin typeface="Consolas"/>
              </a:rPr>
              <a:t>&gt; squad run --request "..." --parallel 3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9198A1"/>
                </a:solidFill>
                <a:latin typeface="Consolas"/>
              </a:rPr>
              <a:t/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3FB950"/>
                </a:solidFill>
                <a:latin typeface="Consolas"/>
              </a:rPr>
              <a:t>  ◆ Onda 1/3: 1 agente     →  Gate aprovado  →  PR #11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3FB950"/>
                </a:solidFill>
                <a:latin typeface="Consolas"/>
              </a:rPr>
              <a:t>  ◆ Onda 2/3: 2 agentes    →  Gate aprovado  →  PR #12, #13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3FB950"/>
                </a:solidFill>
                <a:latin typeface="Consolas"/>
              </a:rPr>
              <a:t>  ◆ Onda 3/3: 2 agentes    →  Gate aprovado  →  PR #14, #15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BC8CFF"/>
                </a:solidFill>
                <a:latin typeface="Consolas"/>
              </a:rPr>
              <a:t>  ◆ 5/5 aprovados no gate · 40,3 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507492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BC8CFF"/>
                </a:solidFill>
                <a:latin typeface="Segoe UI"/>
              </a:rPr>
              <a:t>O que apontar: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600" b="1">
                <a:solidFill>
                  <a:srgbClr val="BC8CFF"/>
                </a:solidFill>
                <a:latin typeface="Segoe UI"/>
              </a:rPr>
              <a:t>▸  </a:t>
            </a:r>
            <a:r>
              <a:rPr sz="1600" b="0">
                <a:solidFill>
                  <a:srgbClr val="E6EDF3"/>
                </a:solidFill>
                <a:latin typeface="Segoe UI"/>
              </a:rPr>
              <a:t>Abra o dashboard do Aspire: spans GenAI ao vivo, com tokens e latência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600" b="1">
                <a:solidFill>
                  <a:srgbClr val="BC8CFF"/>
                </a:solidFill>
                <a:latin typeface="Segoe UI"/>
              </a:rPr>
              <a:t>▸  </a:t>
            </a:r>
            <a:r>
              <a:rPr sz="1600" b="0">
                <a:solidFill>
                  <a:srgbClr val="E6EDF3"/>
                </a:solidFill>
                <a:latin typeface="Segoe UI"/>
              </a:rPr>
              <a:t>Se o gate reprovar, PARE e mostre o diagnóstico voltando para o agente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IMPLEMENTAÇÃO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50392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6EDF3"/>
                </a:solidFill>
                <a:latin typeface="Segoe UI"/>
              </a:rPr>
              <a:t>O que acontece quando o gate reprova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63624"/>
            <a:ext cx="10637215" cy="15875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1810512"/>
            <a:ext cx="420624" cy="420624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9198A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9198A1"/>
                </a:solidFill>
                <a:latin typeface="Segoe U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5608" y="1865376"/>
            <a:ext cx="9875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E6EDF3"/>
                </a:solidFill>
                <a:latin typeface="Segoe UI"/>
              </a:rPr>
              <a:t>O agente diz que terminou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432304"/>
            <a:ext cx="420624" cy="420624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D299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D29922"/>
                </a:solidFill>
                <a:latin typeface="Segoe U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35608" y="2487168"/>
            <a:ext cx="9875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E6EDF3"/>
                </a:solidFill>
                <a:latin typeface="Segoe UI"/>
              </a:rPr>
              <a:t>O gate roda e discorda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054096"/>
            <a:ext cx="420624" cy="420624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58A6FF"/>
                </a:solidFill>
                <a:latin typeface="Segoe U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35608" y="3108960"/>
            <a:ext cx="9875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E6EDF3"/>
                </a:solidFill>
                <a:latin typeface="Segoe UI"/>
              </a:rPr>
              <a:t>O diagnóstico do compilador volta verbatim para o agente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675888"/>
            <a:ext cx="420624" cy="420624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58A6FF"/>
                </a:solidFill>
                <a:latin typeface="Segoe U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35608" y="3730752"/>
            <a:ext cx="9875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E6EDF3"/>
                </a:solidFill>
                <a:latin typeface="Segoe UI"/>
              </a:rPr>
              <a:t>Ele corrige e roda de novo — até 2 tentativas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297680"/>
            <a:ext cx="420624" cy="420624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85149"/>
                </a:solidFill>
                <a:latin typeface="Segoe U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35608" y="4352544"/>
            <a:ext cx="9875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E6EDF3"/>
                </a:solidFill>
                <a:latin typeface="Segoe UI"/>
              </a:rPr>
              <a:t>Esgotou? PR aberto como draft, marcado needs-human, com o diagnóstico no corpo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5193792"/>
            <a:ext cx="10637215" cy="13716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237744" rIns="27432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000"/>
              </a:spcAft>
            </a:pPr>
            <a:r>
              <a:rPr sz="2100" b="1">
                <a:solidFill>
                  <a:srgbClr val="FFFFFF"/>
                </a:solidFill>
                <a:latin typeface="Segoe UI"/>
              </a:rPr>
              <a:t>Se isso acontecer ao vivo hoje, é para comemorar.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9198A1"/>
                </a:solidFill>
                <a:latin typeface="Segoe UI"/>
              </a:rPr>
              <a:t>Um sistema autônomo que nunca é contrariado não está sendo verificado. A parte interessante não é o agente acertar de primeira — é o que acontece quando ele erra.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291072"/>
            <a:ext cx="744605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Agent Squad · TDC São Paulo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1717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19/35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SEGURANÇA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50392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6EDF3"/>
                </a:solidFill>
                <a:latin typeface="Segoe UI"/>
              </a:rPr>
              <a:t>Um agente autônomo é uma superfície de ataque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63624"/>
            <a:ext cx="10637215" cy="15875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10512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E6EDF3"/>
                </a:solidFill>
                <a:latin typeface="Segoe UI"/>
              </a:rPr>
              <a:t>Agência excessiva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54680" y="1783080"/>
            <a:ext cx="608076" cy="310896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85149"/>
                </a:solidFill>
                <a:latin typeface="Segoe UI"/>
              </a:rPr>
              <a:t>LLM08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43400" y="1828800"/>
            <a:ext cx="7223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198A1"/>
                </a:solidFill>
                <a:latin typeface="Segoe UI"/>
              </a:rPr>
              <a:t>git push, gh pr e az são NEGADOS pela política. Negação vence qualquer aprovação automática.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14016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E6EDF3"/>
                </a:solidFill>
                <a:latin typeface="Segoe UI"/>
              </a:rPr>
              <a:t>Prompt injection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154680" y="2386584"/>
            <a:ext cx="608076" cy="310896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85149"/>
                </a:solidFill>
                <a:latin typeface="Segoe UI"/>
              </a:rPr>
              <a:t>LLM01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2432304"/>
            <a:ext cx="7223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198A1"/>
                </a:solidFill>
                <a:latin typeface="Segoe UI"/>
              </a:rPr>
              <a:t>Transcrição, README e issue entram delimitados como dado, nunca como instrução.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01752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E6EDF3"/>
                </a:solidFill>
                <a:latin typeface="Segoe UI"/>
              </a:rPr>
              <a:t>Exfiltração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154680" y="2990088"/>
            <a:ext cx="608076" cy="310896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85149"/>
                </a:solidFill>
                <a:latin typeface="Segoe UI"/>
              </a:rPr>
              <a:t>LLM06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43400" y="3035808"/>
            <a:ext cx="7223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198A1"/>
                </a:solidFill>
                <a:latin typeface="Segoe UI"/>
              </a:rPr>
              <a:t>Fetch restrito a allow-list. .env, .ssh e .pem negados na leitura.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621024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E6EDF3"/>
                </a:solidFill>
                <a:latin typeface="Segoe UI"/>
              </a:rPr>
              <a:t>Escape de sandbox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43400" y="3639312"/>
            <a:ext cx="7223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198A1"/>
                </a:solidFill>
                <a:latin typeface="Segoe UI"/>
              </a:rPr>
              <a:t>Caminho normalizado e comparado com separador final. C:\wt\i42-evil não satisfaz C:\wt\i42.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224528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E6EDF3"/>
                </a:solidFill>
                <a:latin typeface="Segoe UI"/>
              </a:rPr>
              <a:t>Injeção de comando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43400" y="4242816"/>
            <a:ext cx="7223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198A1"/>
                </a:solidFill>
                <a:latin typeface="Segoe UI"/>
              </a:rPr>
              <a:t>ArgumentList sempre. Há teste que passa `a &amp;&amp; whoami` como argumento e confere o round-trip.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828032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E6EDF3"/>
                </a:solidFill>
                <a:latin typeface="Segoe UI"/>
              </a:rPr>
              <a:t>Segredos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154680" y="4800600"/>
            <a:ext cx="763524" cy="310896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85149"/>
                </a:solidFill>
                <a:latin typeface="Segoe UI"/>
              </a:rPr>
              <a:t>SEC-001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43400" y="4846320"/>
            <a:ext cx="7223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198A1"/>
                </a:solidFill>
                <a:latin typeface="Segoe UI"/>
              </a:rPr>
              <a:t>Zero chave no repositório. Foundry com disableLocalAuth. Varredura no diff antes do PR.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5568696"/>
            <a:ext cx="10637215" cy="868680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Segoe UI"/>
              </a:rPr>
              <a:t>Dentro do worktree o agente é autônomo. Fora dele, é impotente.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291072"/>
            <a:ext cx="744605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Agent Squad · TDC São Paulo 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1717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20/35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68580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1">
                <a:solidFill>
                  <a:srgbClr val="BC8CFF"/>
                </a:solidFill>
                <a:latin typeface="Segoe UI"/>
              </a:rPr>
              <a:t>DEMO 4</a:t>
            </a:r>
            <a:r>
              <a:rPr sz="1600" b="0">
                <a:solidFill>
                  <a:srgbClr val="6E7681"/>
                </a:solidFill>
                <a:latin typeface="Segoe UI"/>
              </a:rPr>
              <a:t>        3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143000"/>
            <a:ext cx="102412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4200" b="1">
                <a:solidFill>
                  <a:srgbClr val="FFFFFF"/>
                </a:solidFill>
                <a:latin typeface="Segoe UI"/>
              </a:rPr>
              <a:t>Os pull requests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9198A1"/>
                </a:solidFill>
                <a:latin typeface="Segoe UI"/>
              </a:rPr>
              <a:t>O que um humano recebe no fim: relatório de validação, revisão citando a regra, e procedência.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51560" y="2743200"/>
            <a:ext cx="10058400" cy="1938528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182880" tIns="182880" bIns="164592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58A6FF"/>
                </a:solidFill>
                <a:latin typeface="Consolas"/>
              </a:rPr>
              <a:t>&gt; gh pr list --repo magoolation/squad-demo-catalogo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9198A1"/>
                </a:solidFill>
                <a:latin typeface="Consolas"/>
              </a:rPr>
              <a:t/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E6EDF3"/>
                </a:solidFill>
                <a:latin typeface="Consolas"/>
              </a:rPr>
              <a:t>  #15  [agent-generated,area:api]    feat: exponha get products com logs e testes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E6EDF3"/>
                </a:solidFill>
                <a:latin typeface="Consolas"/>
              </a:rPr>
              <a:t>  #13  [agent-generated,area:core]   feat: implemente validação filtros e paginação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E6EDF3"/>
                </a:solidFill>
                <a:latin typeface="Consolas"/>
              </a:rPr>
              <a:t>  #11  [agent-generated,area:infra]  build: crie a base .net e os contratos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507492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BC8CFF"/>
                </a:solidFill>
                <a:latin typeface="Segoe UI"/>
              </a:rPr>
              <a:t>O que apontar: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600" b="1">
                <a:solidFill>
                  <a:srgbClr val="BC8CFF"/>
                </a:solidFill>
                <a:latin typeface="Segoe UI"/>
              </a:rPr>
              <a:t>▸  </a:t>
            </a:r>
            <a:r>
              <a:rPr sz="1600" b="0">
                <a:solidFill>
                  <a:srgbClr val="E6EDF3"/>
                </a:solidFill>
                <a:latin typeface="Segoe UI"/>
              </a:rPr>
              <a:t>Abra um PR: tabela do gate, apontamento citando TST-004 com arquivo:linha, e bloco de procedência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600" b="1">
                <a:solidFill>
                  <a:srgbClr val="BC8CFF"/>
                </a:solidFill>
                <a:latin typeface="Segoe UI"/>
              </a:rPr>
              <a:t>▸  </a:t>
            </a:r>
            <a:r>
              <a:rPr sz="1600" b="0">
                <a:solidFill>
                  <a:srgbClr val="E6EDF3"/>
                </a:solidFill>
                <a:latin typeface="Segoe UI"/>
              </a:rPr>
              <a:t>Todos são draft. O merge é humano — sempre.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D299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173736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D29922"/>
                </a:solidFill>
                <a:latin typeface="Segoe UI"/>
              </a:rPr>
              <a:t>A PARTE QUE VOCÊ NÃO ENCONTRA EM BLOG POST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2194560"/>
            <a:ext cx="1024128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5400" b="1">
                <a:solidFill>
                  <a:srgbClr val="FFFFFF"/>
                </a:solidFill>
                <a:latin typeface="Segoe UI"/>
              </a:rPr>
              <a:t>Sete coisas que quebraram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>
                <a:solidFill>
                  <a:srgbClr val="9198A1"/>
                </a:solidFill>
                <a:latin typeface="Segoe UI"/>
              </a:rPr>
              <a:t>e o que cada uma ensinou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4206240"/>
            <a:ext cx="100584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9198A1"/>
                </a:solidFill>
                <a:latin typeface="Segoe UI"/>
              </a:rPr>
              <a:t>Nenhuma delas aparece em teste unitário. Todas apareceram rodando o sistema de verdade, contra a nuvem de verdade, num repositório de verdade.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ACHADO 1 DE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50392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6EDF3"/>
                </a:solidFill>
                <a:latin typeface="Segoe UI"/>
              </a:rPr>
              <a:t>Os nomes mudaram, e o seu código de blog post quebrou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63624"/>
            <a:ext cx="10637215" cy="15875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1810512"/>
            <a:ext cx="10637215" cy="105156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182880" rIns="27432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>
                <a:solidFill>
                  <a:srgbClr val="F85149"/>
                </a:solidFill>
                <a:latin typeface="Segoe UI"/>
              </a:rPr>
              <a:t>O SINTOMA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E6EDF3"/>
                </a:solidFill>
                <a:latin typeface="Segoe UI"/>
              </a:rPr>
              <a:t>Azure AI Foundry virou Microsoft Foundry. O papel "Azure AI User" virou "Foundry User". Microsoft.Agents.AI.AzureAI foi abandonado. CreateAIAgent virou AsAIAgent. AgentThread virou AgentSession.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136392"/>
            <a:ext cx="10637215" cy="1316736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182880" tIns="182880" bIns="164592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D29922"/>
                </a:solidFill>
                <a:latin typeface="Consolas"/>
              </a:rPr>
              <a:t>Aspire.Hosting.Azure.AIFoundry   →   Aspire.Hosting.Foundry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D29922"/>
                </a:solidFill>
                <a:latin typeface="Consolas"/>
              </a:rPr>
              <a:t>AddAzureAIFoundry(...)           →   AddFoundry(...)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D29922"/>
                </a:solidFill>
                <a:latin typeface="Consolas"/>
              </a:rPr>
              <a:t>Microsoft.Agents.AI.AzureAI      →   Microsoft.Agents.AI.Foundry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4754880"/>
            <a:ext cx="10637215" cy="1371600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201168" rIns="27432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3FB950"/>
                </a:solidFill>
                <a:latin typeface="Segoe UI"/>
              </a:rPr>
              <a:t>A LIÇÃO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E6EDF3"/>
                </a:solidFill>
                <a:latin typeface="Segoe UI"/>
              </a:rPr>
              <a:t>Amarre por GUID, não por nome. Trate a documentação como sugestão e o compilador como autoridade — encontrei erro em página de doc atualizada dois dias antes.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291072"/>
            <a:ext cx="744605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Agent Squad · TDC São Paulo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1717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23/35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ACHADO 2 DE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50392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6EDF3"/>
                </a:solidFill>
                <a:latin typeface="Segoe UI"/>
              </a:rPr>
              <a:t>Modelo de raciocínio rejeita temperature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63624"/>
            <a:ext cx="10637215" cy="15875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1810512"/>
            <a:ext cx="10637215" cy="105156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182880" rIns="27432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>
                <a:solidFill>
                  <a:srgbClr val="F85149"/>
                </a:solidFill>
                <a:latin typeface="Segoe UI"/>
              </a:rPr>
              <a:t>O SINTOMA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E6EDF3"/>
                </a:solidFill>
                <a:latin typeface="Segoe UI"/>
              </a:rPr>
              <a:t>gpt-5.5 responde HTTP 400: "Unsupported parameter: 'temperature' is not supported with this model". gpt-5.4-mini, no mesmo projeto, aceita normalmente.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136392"/>
            <a:ext cx="10637215" cy="694944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182880" tIns="182880" bIns="164592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F85149"/>
                </a:solidFill>
                <a:latin typeface="Consolas"/>
              </a:rPr>
              <a:t>HTTP 400 (invalid_request_error)  Parameter: temperature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4133088"/>
            <a:ext cx="10637215" cy="1371600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201168" rIns="27432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3FB950"/>
                </a:solidFill>
                <a:latin typeface="Segoe UI"/>
              </a:rPr>
              <a:t>A LIÇÃO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E6EDF3"/>
                </a:solidFill>
                <a:latin typeface="Segoe UI"/>
              </a:rPr>
              <a:t>Enviar temperature incondicionalmente acopla a escolha do modelo à configuração de sampling. Trocar por um modelo melhor quebra o pipeline na primeira chamada. Saída estruturada com schema já é o que restringe esses agentes.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291072"/>
            <a:ext cx="744605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Agent Squad · TDC São Paulo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1717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24/35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ACHADO 3 DE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50392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6EDF3"/>
                </a:solidFill>
                <a:latin typeface="Segoe UI"/>
              </a:rPr>
              <a:t>Cota e Marketplace: duas paredes antes do runtime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63624"/>
            <a:ext cx="10637215" cy="15875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1810512"/>
            <a:ext cx="10637215" cy="105156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182880" rIns="27432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>
                <a:solidFill>
                  <a:srgbClr val="F85149"/>
                </a:solidFill>
                <a:latin typeface="Segoe UI"/>
              </a:rPr>
              <a:t>O SINTOMA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E6EDF3"/>
                </a:solidFill>
                <a:latin typeface="Segoe UI"/>
              </a:rPr>
              <a:t>Uma assinatura pode estar habilitada para um modelo e ter cota ZERO — o deployment falha no preflight. E modelos parceiros (Anthropic, xAI, Mistral) são compra de Marketplace: exigem modelProviderData e um método de pagamento válido.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136392"/>
            <a:ext cx="10637215" cy="1005840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182880" tIns="182880" bIns="164592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F85149"/>
                </a:solidFill>
                <a:latin typeface="Consolas"/>
              </a:rPr>
              <a:t>InsufficientQuota: requires 50 new capacity, available 0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F85149"/>
                </a:solidFill>
                <a:latin typeface="Consolas"/>
              </a:rPr>
              <a:t>Marketplace purchase eligibility check failed: no valid payment method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4443984"/>
            <a:ext cx="10637215" cy="1371600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201168" rIns="27432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3FB950"/>
                </a:solidFill>
                <a:latin typeface="Segoe UI"/>
              </a:rPr>
              <a:t>A LIÇÃO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E6EDF3"/>
                </a:solidFill>
                <a:latin typeface="Segoe UI"/>
              </a:rPr>
              <a:t>Rode az cognitiveservices usage list ANTES de escrever o Bicep. E antes de ensaiar a palestra. Modelos OpenAI são vendidos direto pela Azure e não têm nenhum dos dois requisitos.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291072"/>
            <a:ext cx="744605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Agent Squad · TDC São Paulo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1717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25/35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ACHADO 4 DE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50392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6EDF3"/>
                </a:solidFill>
                <a:latin typeface="Segoe UI"/>
              </a:rPr>
              <a:t>git worktree no Windows não é atômico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63624"/>
            <a:ext cx="10637215" cy="15875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1810512"/>
            <a:ext cx="10637215" cy="105156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182880" rIns="27432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>
                <a:solidFill>
                  <a:srgbClr val="F85149"/>
                </a:solidFill>
                <a:latin typeface="Segoe UI"/>
              </a:rPr>
              <a:t>O SINTOMA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E6EDF3"/>
                </a:solidFill>
                <a:latin typeface="Segoe UI"/>
              </a:rPr>
              <a:t>Quando worktree remove não consegue apagar o diretório — e um processo apenas tê-lo como diretório atual já basta — ele JÁ apagou os arquivos e JÁ desregistrou o worktree. Retry dá "is not a working tree".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136392"/>
            <a:ext cx="10637215" cy="1005840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182880" tIns="182880" bIns="164592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F85149"/>
                </a:solidFill>
                <a:latin typeface="Consolas"/>
              </a:rPr>
              <a:t>error: failed to delete '...': Permission denied   (exit 255)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F85149"/>
                </a:solidFill>
                <a:latin typeface="Consolas"/>
              </a:rPr>
              <a:t>fatal: '...' is not a working tree                  (exit 128)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4443984"/>
            <a:ext cx="10637215" cy="1371600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201168" rIns="27432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3FB950"/>
                </a:solidFill>
                <a:latin typeface="Segoe UI"/>
              </a:rPr>
              <a:t>A LIÇÃO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E6EDF3"/>
                </a:solidFill>
                <a:latin typeface="Segoe UI"/>
              </a:rPr>
              <a:t>A recuperação é sistema de arquivos, não git. E derrube os build servers antes: nós do MSBuild seguram assemblies de analisador por 15 minutos — medido com PIDs estáveis.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291072"/>
            <a:ext cx="744605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Agent Squad · TDC São Paulo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1717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26/35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ACHADO 5 DE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50392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6EDF3"/>
                </a:solidFill>
                <a:latin typeface="Segoe UI"/>
              </a:rPr>
              <a:t>NUGET_SCRATCH dividido corrompe o cache para sempre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63624"/>
            <a:ext cx="10637215" cy="15875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1810512"/>
            <a:ext cx="10637215" cy="105156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182880" rIns="27432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>
                <a:solidFill>
                  <a:srgbClr val="F85149"/>
                </a:solidFill>
                <a:latin typeface="Segoe UI"/>
              </a:rPr>
              <a:t>O SINTOMA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E6EDF3"/>
                </a:solidFill>
                <a:latin typeface="Segoe UI"/>
              </a:rPr>
              <a:t>Os locks entre processos do NuGet vivem em %TEMP%\NuGetScratch, não na pasta de pacotes. Com pasta compartilhada e scratch por worker: 24 de 24 restores concorrentes falharam.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136392"/>
            <a:ext cx="10637215" cy="694944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182880" tIns="182880" bIns="164592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F85149"/>
                </a:solidFill>
                <a:latin typeface="Consolas"/>
              </a:rPr>
              <a:t>NU5037: The package is missing the required nuspec file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4133088"/>
            <a:ext cx="10637215" cy="1371600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201168" rIns="27432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3FB950"/>
                </a:solidFill>
                <a:latin typeface="Segoe UI"/>
              </a:rPr>
              <a:t>A LIÇÃO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E6EDF3"/>
                </a:solidFill>
                <a:latin typeface="Segoe UI"/>
              </a:rPr>
              <a:t>E a corrupção é PERMANENTE: todo pacote fica com o marcador de conclusão mas sem o .nuspec, e restores seriais posteriores falham até limpar o cache na mão. Um scratch para todos: 0 falhas em 24.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291072"/>
            <a:ext cx="744605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Agent Squad · TDC São Paulo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1717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27/35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ACHADO 6 DE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50392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6EDF3"/>
                </a:solidFill>
                <a:latin typeface="Segoe UI"/>
              </a:rPr>
              <a:t>O gate culpava o agente por um bug meu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63624"/>
            <a:ext cx="10637215" cy="15875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1810512"/>
            <a:ext cx="10637215" cy="105156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B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182880" rIns="27432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>
                <a:solidFill>
                  <a:srgbClr val="BC8CFF"/>
                </a:solidFill>
                <a:latin typeface="Segoe UI"/>
              </a:rPr>
              <a:t>O SINTOMA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E6EDF3"/>
                </a:solidFill>
                <a:latin typeface="Segoe UI"/>
              </a:rPr>
              <a:t>--artifacts-path realoca obj/ além de bin/. Eu passava no build mas não no restore. O build falhava com NETSDK1004, e a falha se parecia exatamente com código quebrado.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136392"/>
            <a:ext cx="10637215" cy="694944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182880" tIns="182880" bIns="164592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F85149"/>
                </a:solidFill>
                <a:latin typeface="Consolas"/>
              </a:rPr>
              <a:t>error NETSDK1004: Assets file 'obj/project.assets.json' not found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4133088"/>
            <a:ext cx="10637215" cy="1371600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201168" rIns="27432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3FB950"/>
                </a:solidFill>
                <a:latin typeface="Segoe UI"/>
              </a:rPr>
              <a:t>A LIÇÃO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E6EDF3"/>
                </a:solidFill>
                <a:latin typeface="Segoe UI"/>
              </a:rPr>
              <a:t>Um gate que culpa a parte errada é pior do que gate nenhum: fez um agente correto parecer incompetente e queimou as tentativas de reparo consertando algo que nunca esteve errado. Rodei o gate à mão no código dele: passava inteiro, com 6 testes.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291072"/>
            <a:ext cx="744605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Agent Squad · TDC São Paulo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1717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28/35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ACHADO 7 DE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50392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6EDF3"/>
                </a:solidFill>
                <a:latin typeface="Segoe UI"/>
              </a:rPr>
              <a:t>As ondas não enxergavam umas às outras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63624"/>
            <a:ext cx="10637215" cy="15875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1810512"/>
            <a:ext cx="10637215" cy="105156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182880" rIns="27432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>
                <a:solidFill>
                  <a:srgbClr val="F85149"/>
                </a:solidFill>
                <a:latin typeface="Segoe UI"/>
              </a:rPr>
              <a:t>O SINTOMA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E6EDF3"/>
                </a:solidFill>
                <a:latin typeface="Segoe UI"/>
              </a:rPr>
              <a:t>Todo worktree ramificava de main e todo PR mirava main. Como o merge é humano e os PRs ficam abertos, a onda 2 nunca via o trabalho da onda 1.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136392"/>
            <a:ext cx="10637215" cy="694944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182880" tIns="182880" bIns="164592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F85149"/>
                </a:solidFill>
                <a:latin typeface="Consolas"/>
              </a:rPr>
              <a:t>PR da onda 3 continha a solução inteira, não só a sua mudança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4133088"/>
            <a:ext cx="10637215" cy="1371600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201168" rIns="27432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3FB950"/>
                </a:solidFill>
                <a:latin typeface="Segoe UI"/>
              </a:rPr>
              <a:t>A LIÇÃO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E6EDF3"/>
                </a:solidFill>
                <a:latin typeface="Segoe UI"/>
              </a:rPr>
              <a:t>Cada agente reconstruía a fundação do zero, e os cinco PRs conflitariam entre si no merge. A correção: um branch de integração por execução. As ondas acumulam nele, os PRs miram nele, e um único merge humano entrega o conjunto.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291072"/>
            <a:ext cx="744605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Agent Squad · TDC São Paulo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1717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29/35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OS ACHADOS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50392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6EDF3"/>
                </a:solidFill>
                <a:latin typeface="Segoe UI"/>
              </a:rPr>
              <a:t>O padrão por trás dos sete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63624"/>
            <a:ext cx="10637215" cy="15875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01952"/>
            <a:ext cx="10637215" cy="4133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800"/>
              </a:spcAft>
            </a:pPr>
            <a:r>
              <a:rPr sz="1900" b="1">
                <a:solidFill>
                  <a:srgbClr val="58A6FF"/>
                </a:solidFill>
                <a:latin typeface="Segoe UI"/>
              </a:rPr>
              <a:t>—  </a:t>
            </a:r>
            <a:r>
              <a:rPr sz="1900" b="1">
                <a:solidFill>
                  <a:srgbClr val="E6EDF3"/>
                </a:solidFill>
                <a:latin typeface="Segoe UI"/>
              </a:rPr>
              <a:t>Nenhum era sobre o modelo. </a:t>
            </a:r>
            <a:r>
              <a:rPr sz="1900" b="0">
                <a:solidFill>
                  <a:srgbClr val="9198A1"/>
                </a:solidFill>
                <a:latin typeface="Segoe UI"/>
              </a:rPr>
              <a:t>Todos eram integração, versão, permissão ou hierarquia de autoridade.</a:t>
            </a:r>
          </a:p>
          <a:p>
            <a:pPr algn="l">
              <a:lnSpc>
                <a:spcPct val="125000"/>
              </a:lnSpc>
              <a:spcAft>
                <a:spcPts val="1800"/>
              </a:spcAft>
            </a:pPr>
            <a:r>
              <a:rPr sz="1900" b="1">
                <a:solidFill>
                  <a:srgbClr val="58A6FF"/>
                </a:solidFill>
                <a:latin typeface="Segoe UI"/>
              </a:rPr>
              <a:t>—  </a:t>
            </a:r>
            <a:r>
              <a:rPr sz="1900" b="1">
                <a:solidFill>
                  <a:srgbClr val="E6EDF3"/>
                </a:solidFill>
                <a:latin typeface="Segoe UI"/>
              </a:rPr>
              <a:t>Nenhum aparecia em teste unitário. </a:t>
            </a:r>
            <a:r>
              <a:rPr sz="1900" b="0">
                <a:solidFill>
                  <a:srgbClr val="9198A1"/>
                </a:solidFill>
                <a:latin typeface="Segoe UI"/>
              </a:rPr>
              <a:t>Todos apareceram rodando contra a nuvem de verdade.</a:t>
            </a:r>
          </a:p>
          <a:p>
            <a:pPr algn="l">
              <a:lnSpc>
                <a:spcPct val="125000"/>
              </a:lnSpc>
              <a:spcAft>
                <a:spcPts val="1800"/>
              </a:spcAft>
            </a:pPr>
            <a:r>
              <a:rPr sz="1900" b="1">
                <a:solidFill>
                  <a:srgbClr val="58A6FF"/>
                </a:solidFill>
                <a:latin typeface="Segoe UI"/>
              </a:rPr>
              <a:t>—  </a:t>
            </a:r>
            <a:r>
              <a:rPr sz="1900" b="1">
                <a:solidFill>
                  <a:srgbClr val="E6EDF3"/>
                </a:solidFill>
                <a:latin typeface="Segoe UI"/>
              </a:rPr>
              <a:t>Quatro só apareceram depois de 10 minutos de execução. </a:t>
            </a:r>
            <a:r>
              <a:rPr sz="1900" b="0">
                <a:solidFill>
                  <a:srgbClr val="9198A1"/>
                </a:solidFill>
                <a:latin typeface="Segoe UI"/>
              </a:rPr>
              <a:t>Por isso cada integração arriscada virou um diagnóstico que roda em segundos.</a:t>
            </a:r>
          </a:p>
          <a:p>
            <a:pPr algn="l">
              <a:lnSpc>
                <a:spcPct val="125000"/>
              </a:lnSpc>
              <a:spcAft>
                <a:spcPts val="1800"/>
              </a:spcAft>
            </a:pPr>
            <a:r>
              <a:rPr sz="1900" b="1">
                <a:solidFill>
                  <a:srgbClr val="58A6FF"/>
                </a:solidFill>
                <a:latin typeface="Segoe UI"/>
              </a:rPr>
              <a:t>—  </a:t>
            </a:r>
            <a:r>
              <a:rPr sz="1900" b="1">
                <a:solidFill>
                  <a:srgbClr val="E6EDF3"/>
                </a:solidFill>
                <a:latin typeface="Segoe UI"/>
              </a:rPr>
              <a:t>O mais caro foi o que culpava a parte errada. </a:t>
            </a:r>
            <a:r>
              <a:rPr sz="1900" b="0">
                <a:solidFill>
                  <a:srgbClr val="9198A1"/>
                </a:solidFill>
                <a:latin typeface="Segoe UI"/>
              </a:rPr>
              <a:t>Um gate com bug faz um agente correto parecer incompetente — e queima as tentativas de reparo.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4937760"/>
            <a:ext cx="10637215" cy="11430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219456" rIns="27432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2000" b="1">
                <a:solidFill>
                  <a:srgbClr val="FFFFFF"/>
                </a:solidFill>
                <a:latin typeface="Segoe UI"/>
              </a:rPr>
              <a:t>Se você for construir algo assim, orce o dobro do tempo para integração — e nada para 'fazer o modelo entender'.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9198A1"/>
                </a:solidFill>
                <a:latin typeface="Segoe UI"/>
              </a:rPr>
              <a:t>O modelo é a parte que já funciona.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291072"/>
            <a:ext cx="744605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Agent Squad · TDC São Paulo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30/35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NA SUA EMPRESA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50392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6EDF3"/>
                </a:solidFill>
                <a:latin typeface="Segoe UI"/>
              </a:rPr>
              <a:t>Por onde começar na segunda-feira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63624"/>
            <a:ext cx="10637215" cy="15875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1810512"/>
            <a:ext cx="457200" cy="457200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3FB950"/>
                </a:solidFill>
                <a:latin typeface="Segoe U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90472" y="1792224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>
                <a:solidFill>
                  <a:srgbClr val="E6EDF3"/>
                </a:solidFill>
                <a:latin typeface="Segoe UI"/>
              </a:rPr>
              <a:t>Escreva as regras antes do agente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9198A1"/>
                </a:solidFill>
                <a:latin typeface="Segoe UI"/>
              </a:rPr>
              <a:t>docs/engineering-rules.md com identificador estável. Sem isso, você não tem como dizer se o agente acertou.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724912"/>
            <a:ext cx="457200" cy="457200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3FB950"/>
                </a:solidFill>
                <a:latin typeface="Segoe U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90472" y="2706624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>
                <a:solidFill>
                  <a:srgbClr val="E6EDF3"/>
                </a:solidFill>
                <a:latin typeface="Segoe UI"/>
              </a:rPr>
              <a:t>Automatize o gate para humanos primeiro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9198A1"/>
                </a:solidFill>
                <a:latin typeface="Segoe UI"/>
              </a:rPr>
              <a:t>Se o seu CI não reprova um PR humano mal formatado, ele não vai reprovar o de um agente.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639312"/>
            <a:ext cx="457200" cy="457200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58A6FF"/>
                </a:solidFill>
                <a:latin typeface="Segoe U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90472" y="3621024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>
                <a:solidFill>
                  <a:srgbClr val="E6EDF3"/>
                </a:solidFill>
                <a:latin typeface="Segoe UI"/>
              </a:rPr>
              <a:t>Um agente, uma issue, um worktree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9198A1"/>
                </a:solidFill>
                <a:latin typeface="Segoe UI"/>
              </a:rPr>
              <a:t>Não comece com cinco. Faça um funcionar de ponta a ponta, incluindo o PR.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553712"/>
            <a:ext cx="457200" cy="457200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58A6FF"/>
                </a:solidFill>
                <a:latin typeface="Segoe U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90472" y="4535424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>
                <a:solidFill>
                  <a:srgbClr val="E6EDF3"/>
                </a:solidFill>
                <a:latin typeface="Segoe UI"/>
              </a:rPr>
              <a:t>Só então paralelize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9198A1"/>
                </a:solidFill>
                <a:latin typeface="Segoe UI"/>
              </a:rPr>
              <a:t>E no minuto em que paralelizar, implemente a regra do conflito de arquivo.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5468112"/>
            <a:ext cx="457200" cy="457200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D299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D29922"/>
                </a:solidFill>
                <a:latin typeface="Segoe U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90472" y="5449824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>
                <a:solidFill>
                  <a:srgbClr val="E6EDF3"/>
                </a:solidFill>
                <a:latin typeface="Segoe UI"/>
              </a:rPr>
              <a:t>Meça antes de otimizar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9198A1"/>
                </a:solidFill>
                <a:latin typeface="Segoe UI"/>
              </a:rPr>
              <a:t>Quanto custa uma execução? Quantos reparos por item? Onde o tempo vai?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291072"/>
            <a:ext cx="744605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Agent Squad · TDC São Paulo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1717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31/35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NA SUA EMPRESA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50392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6EDF3"/>
                </a:solidFill>
                <a:latin typeface="Segoe UI"/>
              </a:rPr>
              <a:t>O que não negociar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63624"/>
            <a:ext cx="10637215" cy="15875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01952"/>
            <a:ext cx="10637215" cy="4133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600"/>
              </a:spcAft>
            </a:pPr>
            <a:r>
              <a:rPr sz="1800" b="1">
                <a:solidFill>
                  <a:srgbClr val="58A6FF"/>
                </a:solidFill>
                <a:latin typeface="Segoe UI"/>
              </a:rPr>
              <a:t>—  </a:t>
            </a:r>
            <a:r>
              <a:rPr sz="1800" b="1">
                <a:solidFill>
                  <a:srgbClr val="E6EDF3"/>
                </a:solidFill>
                <a:latin typeface="Segoe UI"/>
              </a:rPr>
              <a:t>Verificação determinística. </a:t>
            </a:r>
            <a:r>
              <a:rPr sz="1800" b="0">
                <a:solidFill>
                  <a:srgbClr val="9198A1"/>
                </a:solidFill>
                <a:latin typeface="Segoe UI"/>
              </a:rPr>
              <a:t>O modelo produz, o programa verifica. Sempre.</a:t>
            </a:r>
          </a:p>
          <a:p>
            <a:pPr algn="l">
              <a:lnSpc>
                <a:spcPct val="125000"/>
              </a:lnSpc>
              <a:spcAft>
                <a:spcPts val="1600"/>
              </a:spcAft>
            </a:pPr>
            <a:r>
              <a:rPr sz="1800" b="1">
                <a:solidFill>
                  <a:srgbClr val="58A6FF"/>
                </a:solidFill>
                <a:latin typeface="Segoe UI"/>
              </a:rPr>
              <a:t>—  </a:t>
            </a:r>
            <a:r>
              <a:rPr sz="1800" b="1">
                <a:solidFill>
                  <a:srgbClr val="E6EDF3"/>
                </a:solidFill>
                <a:latin typeface="Segoe UI"/>
              </a:rPr>
              <a:t>Merge humano. </a:t>
            </a:r>
            <a:r>
              <a:rPr sz="1800" b="0">
                <a:solidFill>
                  <a:srgbClr val="9198A1"/>
                </a:solidFill>
                <a:latin typeface="Segoe UI"/>
              </a:rPr>
              <a:t>Sem exceção, por mais confiável que o agente pareça.</a:t>
            </a:r>
          </a:p>
          <a:p>
            <a:pPr algn="l">
              <a:lnSpc>
                <a:spcPct val="125000"/>
              </a:lnSpc>
              <a:spcAft>
                <a:spcPts val="1600"/>
              </a:spcAft>
            </a:pPr>
            <a:r>
              <a:rPr sz="1800" b="1">
                <a:solidFill>
                  <a:srgbClr val="58A6FF"/>
                </a:solidFill>
                <a:latin typeface="Segoe UI"/>
              </a:rPr>
              <a:t>—  </a:t>
            </a:r>
            <a:r>
              <a:rPr sz="1800" b="1">
                <a:solidFill>
                  <a:srgbClr val="E6EDF3"/>
                </a:solidFill>
                <a:latin typeface="Segoe UI"/>
              </a:rPr>
              <a:t>Sandbox técnico, não instrução. </a:t>
            </a:r>
            <a:r>
              <a:rPr sz="1800" b="0">
                <a:solidFill>
                  <a:srgbClr val="9198A1"/>
                </a:solidFill>
                <a:latin typeface="Segoe UI"/>
              </a:rPr>
              <a:t>Impedir é diferente de pedir. Numa auditoria, muito diferente.</a:t>
            </a:r>
          </a:p>
          <a:p>
            <a:pPr algn="l">
              <a:lnSpc>
                <a:spcPct val="125000"/>
              </a:lnSpc>
              <a:spcAft>
                <a:spcPts val="1600"/>
              </a:spcAft>
            </a:pPr>
            <a:r>
              <a:rPr sz="1800" b="1">
                <a:solidFill>
                  <a:srgbClr val="58A6FF"/>
                </a:solidFill>
                <a:latin typeface="Segoe UI"/>
              </a:rPr>
              <a:t>—  </a:t>
            </a:r>
            <a:r>
              <a:rPr sz="1800" b="1">
                <a:solidFill>
                  <a:srgbClr val="E6EDF3"/>
                </a:solidFill>
                <a:latin typeface="Segoe UI"/>
              </a:rPr>
              <a:t>Teto de gasto e de iteração. </a:t>
            </a:r>
            <a:r>
              <a:rPr sz="1800" b="0">
                <a:solidFill>
                  <a:srgbClr val="9198A1"/>
                </a:solidFill>
                <a:latin typeface="Segoe UI"/>
              </a:rPr>
              <a:t>Tentativas, timeout por agente, timeout por execução, limite de concorrência.</a:t>
            </a:r>
          </a:p>
          <a:p>
            <a:pPr algn="l">
              <a:lnSpc>
                <a:spcPct val="125000"/>
              </a:lnSpc>
              <a:spcAft>
                <a:spcPts val="1600"/>
              </a:spcAft>
            </a:pPr>
            <a:r>
              <a:rPr sz="1800" b="1">
                <a:solidFill>
                  <a:srgbClr val="58A6FF"/>
                </a:solidFill>
                <a:latin typeface="Segoe UI"/>
              </a:rPr>
              <a:t>—  </a:t>
            </a:r>
            <a:r>
              <a:rPr sz="1800" b="1">
                <a:solidFill>
                  <a:srgbClr val="E6EDF3"/>
                </a:solidFill>
                <a:latin typeface="Segoe UI"/>
              </a:rPr>
              <a:t>Auditabilidade. </a:t>
            </a:r>
            <a:r>
              <a:rPr sz="1800" b="0">
                <a:solidFill>
                  <a:srgbClr val="9198A1"/>
                </a:solidFill>
                <a:latin typeface="Segoe UI"/>
              </a:rPr>
              <a:t>Prompt, modelo, tokens, ferramentas chamadas, permissões negadas e diff — tudo gravado.</a:t>
            </a:r>
          </a:p>
          <a:p>
            <a:pPr algn="l">
              <a:lnSpc>
                <a:spcPct val="125000"/>
              </a:lnSpc>
              <a:spcAft>
                <a:spcPts val="1600"/>
              </a:spcAft>
            </a:pPr>
            <a:r>
              <a:rPr sz="1800" b="1">
                <a:solidFill>
                  <a:srgbClr val="58A6FF"/>
                </a:solidFill>
                <a:latin typeface="Segoe UI"/>
              </a:rPr>
              <a:t>—  </a:t>
            </a:r>
            <a:r>
              <a:rPr sz="1800" b="1">
                <a:solidFill>
                  <a:srgbClr val="E6EDF3"/>
                </a:solidFill>
                <a:latin typeface="Segoe UI"/>
              </a:rPr>
              <a:t>Transparência. </a:t>
            </a:r>
            <a:r>
              <a:rPr sz="1800" b="0">
                <a:solidFill>
                  <a:srgbClr val="9198A1"/>
                </a:solidFill>
                <a:latin typeface="Segoe UI"/>
              </a:rPr>
              <a:t>Todo PR de agente é rotulado e declara qual modelo o produziu.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5394960"/>
            <a:ext cx="10637215" cy="777240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D299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E6EDF3"/>
                </a:solidFill>
                <a:latin typeface="Segoe UI"/>
              </a:rPr>
              <a:t>Essas seis coisas são o que separa uma demo de um sistema que você pode colocar numa empresa.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291072"/>
            <a:ext cx="744605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Agent Squad · TDC São Paulo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32/35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HONESTIDADE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50392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6EDF3"/>
                </a:solidFill>
                <a:latin typeface="Segoe UI"/>
              </a:rPr>
              <a:t>O que eu não resolvi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63624"/>
            <a:ext cx="10637215" cy="15875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01952"/>
            <a:ext cx="10637215" cy="4133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700"/>
              </a:spcAft>
            </a:pPr>
            <a:r>
              <a:rPr sz="1800" b="1">
                <a:solidFill>
                  <a:srgbClr val="58A6FF"/>
                </a:solidFill>
                <a:latin typeface="Segoe UI"/>
              </a:rPr>
              <a:t>—  </a:t>
            </a:r>
            <a:r>
              <a:rPr sz="1800" b="1">
                <a:solidFill>
                  <a:srgbClr val="E6EDF3"/>
                </a:solidFill>
                <a:latin typeface="Segoe UI"/>
              </a:rPr>
              <a:t>Custo real por entrega. </a:t>
            </a:r>
            <a:r>
              <a:rPr sz="1800" b="0">
                <a:solidFill>
                  <a:srgbClr val="9198A1"/>
                </a:solidFill>
                <a:latin typeface="Segoe UI"/>
              </a:rPr>
              <a:t>Medi tempo, não dinheiro. Uma execução de 40 min consome tokens de 6 agentes.</a:t>
            </a:r>
          </a:p>
          <a:p>
            <a:pPr algn="l">
              <a:lnSpc>
                <a:spcPct val="125000"/>
              </a:lnSpc>
              <a:spcAft>
                <a:spcPts val="1700"/>
              </a:spcAft>
            </a:pPr>
            <a:r>
              <a:rPr sz="1800" b="1">
                <a:solidFill>
                  <a:srgbClr val="58A6FF"/>
                </a:solidFill>
                <a:latin typeface="Segoe UI"/>
              </a:rPr>
              <a:t>—  </a:t>
            </a:r>
            <a:r>
              <a:rPr sz="1800" b="1">
                <a:solidFill>
                  <a:srgbClr val="E6EDF3"/>
                </a:solidFill>
                <a:latin typeface="Segoe UI"/>
              </a:rPr>
              <a:t>Brownfield grande de verdade. </a:t>
            </a:r>
            <a:r>
              <a:rPr sz="1800" b="0">
                <a:solidFill>
                  <a:srgbClr val="9198A1"/>
                </a:solidFill>
                <a:latin typeface="Segoe UI"/>
              </a:rPr>
              <a:t>Validei greenfield e mudanças pequenas. Repositório legado de 500 mil linhas é outro problema.</a:t>
            </a:r>
          </a:p>
          <a:p>
            <a:pPr algn="l">
              <a:lnSpc>
                <a:spcPct val="125000"/>
              </a:lnSpc>
              <a:spcAft>
                <a:spcPts val="1700"/>
              </a:spcAft>
            </a:pPr>
            <a:r>
              <a:rPr sz="1800" b="1">
                <a:solidFill>
                  <a:srgbClr val="58A6FF"/>
                </a:solidFill>
                <a:latin typeface="Segoe UI"/>
              </a:rPr>
              <a:t>—  </a:t>
            </a:r>
            <a:r>
              <a:rPr sz="1800" b="1">
                <a:solidFill>
                  <a:srgbClr val="E6EDF3"/>
                </a:solidFill>
                <a:latin typeface="Segoe UI"/>
              </a:rPr>
              <a:t>Retomada de execução. </a:t>
            </a:r>
            <a:r>
              <a:rPr sz="1800" b="0">
                <a:solidFill>
                  <a:srgbClr val="9198A1"/>
                </a:solidFill>
                <a:latin typeface="Segoe UI"/>
              </a:rPr>
              <a:t>Uma execução interrompida recomeça do zero. O journal preserva o histórico, mas não o estado.</a:t>
            </a:r>
          </a:p>
          <a:p>
            <a:pPr algn="l">
              <a:lnSpc>
                <a:spcPct val="125000"/>
              </a:lnSpc>
              <a:spcAft>
                <a:spcPts val="1700"/>
              </a:spcAft>
            </a:pPr>
            <a:r>
              <a:rPr sz="1800" b="1">
                <a:solidFill>
                  <a:srgbClr val="58A6FF"/>
                </a:solidFill>
                <a:latin typeface="Segoe UI"/>
              </a:rPr>
              <a:t>—  </a:t>
            </a:r>
            <a:r>
              <a:rPr sz="1800" b="1">
                <a:solidFill>
                  <a:srgbClr val="E6EDF3"/>
                </a:solidFill>
                <a:latin typeface="Segoe UI"/>
              </a:rPr>
              <a:t>Qualidade sustentada. </a:t>
            </a:r>
            <a:r>
              <a:rPr sz="1800" b="0">
                <a:solidFill>
                  <a:srgbClr val="9198A1"/>
                </a:solidFill>
                <a:latin typeface="Segoe UI"/>
              </a:rPr>
              <a:t>Cinco PRs aprovados no gate não são cinco PRs que eu mandaria para produção sem ler.</a:t>
            </a:r>
          </a:p>
          <a:p>
            <a:pPr algn="l">
              <a:lnSpc>
                <a:spcPct val="125000"/>
              </a:lnSpc>
              <a:spcAft>
                <a:spcPts val="1700"/>
              </a:spcAft>
            </a:pPr>
            <a:r>
              <a:rPr sz="1800" b="1">
                <a:solidFill>
                  <a:srgbClr val="58A6FF"/>
                </a:solidFill>
                <a:latin typeface="Segoe UI"/>
              </a:rPr>
              <a:t>—  </a:t>
            </a:r>
            <a:r>
              <a:rPr sz="1800" b="1">
                <a:solidFill>
                  <a:srgbClr val="E6EDF3"/>
                </a:solidFill>
                <a:latin typeface="Segoe UI"/>
              </a:rPr>
              <a:t>O crítico ainda é barulhento. </a:t>
            </a:r>
            <a:r>
              <a:rPr sz="1800" b="0">
                <a:solidFill>
                  <a:srgbClr val="9198A1"/>
                </a:solidFill>
                <a:latin typeface="Segoe UI"/>
              </a:rPr>
              <a:t>Melhorou com a mudança de hierarquia, mas ainda aponta mais do que deveria.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5303520"/>
            <a:ext cx="10637215" cy="86868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E6EDF3"/>
                </a:solidFill>
                <a:latin typeface="Segoe UI"/>
              </a:rPr>
              <a:t>Se alguém te vender isso como resolvido, desconfie. É promissor, e está longe de pronto.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291072"/>
            <a:ext cx="744605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Agent Squad · TDC São Paulo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33/35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128016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58A6FF"/>
                </a:solidFill>
                <a:latin typeface="Segoe UI"/>
              </a:rPr>
              <a:t>PARA LEVAR PARA CASA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828800"/>
            <a:ext cx="1024128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000"/>
              </a:spcAft>
            </a:pPr>
            <a:r>
              <a:rPr sz="4000" b="1">
                <a:solidFill>
                  <a:srgbClr val="FFFFFF"/>
                </a:solidFill>
                <a:latin typeface="Segoe UI"/>
              </a:rPr>
              <a:t>O gargalo não é escrever código.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9198A1"/>
                </a:solidFill>
                <a:latin typeface="Segoe UI"/>
              </a:rPr>
              <a:t>É decidir o que escrever, coordenar quem escreve, e verificar.</a:t>
            </a:r>
          </a:p>
        </p:txBody>
      </p:sp>
      <p:sp>
        <p:nvSpPr>
          <p:cNvPr id="6" name="Rectangle 5"/>
          <p:cNvSpPr/>
          <p:nvPr/>
        </p:nvSpPr>
        <p:spPr>
          <a:xfrm>
            <a:off x="1051560" y="3657600"/>
            <a:ext cx="10058400" cy="15875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3977639"/>
            <a:ext cx="100584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400"/>
              </a:spcAft>
            </a:pPr>
            <a:r>
              <a:rPr sz="2000" b="1">
                <a:solidFill>
                  <a:srgbClr val="58A6FF"/>
                </a:solidFill>
                <a:latin typeface="Segoe UI"/>
              </a:rPr>
              <a:t>▸  </a:t>
            </a:r>
            <a:r>
              <a:rPr sz="2000" b="0">
                <a:solidFill>
                  <a:srgbClr val="E6EDF3"/>
                </a:solidFill>
                <a:latin typeface="Segoe UI"/>
              </a:rPr>
              <a:t>O modelo produz. O programa verifica.</a:t>
            </a:r>
          </a:p>
          <a:p>
            <a:pPr algn="l">
              <a:lnSpc>
                <a:spcPct val="125000"/>
              </a:lnSpc>
              <a:spcAft>
                <a:spcPts val="1400"/>
              </a:spcAft>
            </a:pPr>
            <a:r>
              <a:rPr sz="2000" b="1">
                <a:solidFill>
                  <a:srgbClr val="58A6FF"/>
                </a:solidFill>
                <a:latin typeface="Segoe UI"/>
              </a:rPr>
              <a:t>▸  </a:t>
            </a:r>
            <a:r>
              <a:rPr sz="2000" b="0">
                <a:solidFill>
                  <a:srgbClr val="E6EDF3"/>
                </a:solidFill>
                <a:latin typeface="Segoe UI"/>
              </a:rPr>
              <a:t>Restrição é o que faz paralelismo funcionar — não inteligência.</a:t>
            </a:r>
          </a:p>
          <a:p>
            <a:pPr algn="l">
              <a:lnSpc>
                <a:spcPct val="125000"/>
              </a:lnSpc>
              <a:spcAft>
                <a:spcPts val="1400"/>
              </a:spcAft>
            </a:pPr>
            <a:r>
              <a:rPr sz="2000" b="1">
                <a:solidFill>
                  <a:srgbClr val="58A6FF"/>
                </a:solidFill>
                <a:latin typeface="Segoe UI"/>
              </a:rPr>
              <a:t>▸  </a:t>
            </a:r>
            <a:r>
              <a:rPr sz="2000" b="0">
                <a:solidFill>
                  <a:srgbClr val="E6EDF3"/>
                </a:solidFill>
                <a:latin typeface="Segoe UI"/>
              </a:rPr>
              <a:t>As regras da sua empresa são arquivo versionado, não prompt escondido.</a:t>
            </a:r>
          </a:p>
          <a:p>
            <a:pPr algn="l">
              <a:lnSpc>
                <a:spcPct val="125000"/>
              </a:lnSpc>
              <a:spcAft>
                <a:spcPts val="1400"/>
              </a:spcAft>
            </a:pPr>
            <a:r>
              <a:rPr sz="2000" b="1">
                <a:solidFill>
                  <a:srgbClr val="58A6FF"/>
                </a:solidFill>
                <a:latin typeface="Segoe UI"/>
              </a:rPr>
              <a:t>▸  </a:t>
            </a:r>
            <a:r>
              <a:rPr sz="2000" b="0">
                <a:solidFill>
                  <a:srgbClr val="E6EDF3"/>
                </a:solidFill>
                <a:latin typeface="Segoe UI"/>
              </a:rPr>
              <a:t>O merge continua sendo humano. Isso não é limitação, é o desenho.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1691640"/>
            <a:ext cx="102412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6400" b="1">
                <a:solidFill>
                  <a:srgbClr val="FFFFFF"/>
                </a:solidFill>
                <a:latin typeface="Segoe UI"/>
              </a:rPr>
              <a:t>Perguntas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9198A1"/>
                </a:solidFill>
                <a:latin typeface="Segoe UI"/>
              </a:rPr>
              <a:t>e depois um café, se você quiser continuar a conversa</a:t>
            </a:r>
          </a:p>
        </p:txBody>
      </p:sp>
      <p:sp>
        <p:nvSpPr>
          <p:cNvPr id="5" name="Rectangle 4"/>
          <p:cNvSpPr/>
          <p:nvPr/>
        </p:nvSpPr>
        <p:spPr>
          <a:xfrm>
            <a:off x="1051560" y="3794760"/>
            <a:ext cx="10058400" cy="15875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4114800"/>
            <a:ext cx="100584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9198A1"/>
                </a:solidFill>
                <a:latin typeface="Segoe UI"/>
              </a:rPr>
              <a:t>Todo o código, as regras, o runbook e a transcrição de exemplo: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800"/>
              </a:spcAft>
            </a:pPr>
            <a:r>
              <a:rPr sz="2700" b="1">
                <a:solidFill>
                  <a:srgbClr val="58A6FF"/>
                </a:solidFill>
                <a:latin typeface="Consolas"/>
              </a:rPr>
              <a:t>github.com/magoolation/tdc-sp-2026-agent-squad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56692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700" b="1">
                <a:solidFill>
                  <a:srgbClr val="E6EDF3"/>
                </a:solidFill>
                <a:latin typeface="Segoe UI"/>
              </a:rPr>
              <a:t>Alexandre Costa</a:t>
            </a:r>
            <a:r>
              <a:rPr sz="1700" b="0">
                <a:solidFill>
                  <a:srgbClr val="6E7681"/>
                </a:solidFill>
                <a:latin typeface="Segoe UI"/>
              </a:rPr>
              <a:t>     ·     </a:t>
            </a:r>
            <a:r>
              <a:rPr sz="1700" b="0">
                <a:solidFill>
                  <a:srgbClr val="9198A1"/>
                </a:solidFill>
                <a:latin typeface="Segoe UI"/>
              </a:rPr>
              <a:t>[@seu-linkedin]</a:t>
            </a:r>
            <a:r>
              <a:rPr sz="1700" b="0">
                <a:solidFill>
                  <a:srgbClr val="6E7681"/>
                </a:solidFill>
                <a:latin typeface="Segoe UI"/>
              </a:rPr>
              <a:t>     ·     </a:t>
            </a:r>
            <a:r>
              <a:rPr sz="1700" b="0">
                <a:solidFill>
                  <a:srgbClr val="9198A1"/>
                </a:solidFill>
                <a:latin typeface="Segoe UI"/>
              </a:rPr>
              <a:t>[seu-email]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